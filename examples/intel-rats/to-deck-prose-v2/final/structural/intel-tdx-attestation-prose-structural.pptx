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 TDX 원격 증명은 승인한 VM에만 비밀을 공개하는 통제다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B8CF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클라우드 운영자를 전적으로 믿지 않아도, hardware Evidence와 조직 policy가 함께 secret release를 조건화한다.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CF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2971800" cy="2468880"/>
          </a:xfrm>
          <a:prstGeom prst="round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856232"/>
            <a:ext cx="1152144" cy="256032"/>
          </a:xfrm>
          <a:prstGeom prst="round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92481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누구를 전적으로 믿지 않는가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777240" y="2660904"/>
            <a:ext cx="26060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host·hypervisor·network는 메시지를 지연·재전송·교체할 수 있다. 그래서 TD가 보낸 값은 검증 전까지 권한이 아니다.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608576" y="1691640"/>
            <a:ext cx="2971800" cy="2468880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1856232"/>
            <a:ext cx="1152144" cy="256032"/>
          </a:xfrm>
          <a:prstGeom prst="roundRect">
            <a:avLst/>
          </a:prstGeom>
          <a:solidFill>
            <a:srgbClr val="086377"/>
          </a:solidFill>
          <a:ln w="8890">
            <a:solidFill>
              <a:srgbClr val="086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92481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검사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791456" y="2267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Verifier가 Evidence를 평가한다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791456" y="2660904"/>
            <a:ext cx="26060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Verifier는 Quote와 collateral, request context, key binding을 조직의 appraisal policy와 대조한다.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622792" y="1691640"/>
            <a:ext cx="2971800" cy="2468880"/>
          </a:xfrm>
          <a:prstGeom prst="roundRect">
            <a:avLst/>
          </a:prstGeom>
          <a:solidFill>
            <a:srgbClr val="1C64D1"/>
          </a:solidFill>
          <a:ln w="8890">
            <a:solidFill>
              <a:srgbClr val="1C64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87384" y="1856232"/>
            <a:ext cx="1152144" cy="256032"/>
          </a:xfrm>
          <a:prstGeom prst="roundRect">
            <a:avLst/>
          </a:prstGeom>
          <a:solidFill>
            <a:srgbClr val="1650A8"/>
          </a:solidFill>
          <a:ln w="8890">
            <a:solidFill>
              <a:srgbClr val="1650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7384" y="192481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결정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805672" y="2267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RP/KMS가 공개를 결정한다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805672" y="2660904"/>
            <a:ext cx="26060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RP/KMS는 signed Result를 자신의 release policy에 넣고, 조건이 맞을 때만 비밀을 공개한다.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3593592" y="2898648"/>
            <a:ext cx="978408" cy="0"/>
          </a:xfrm>
          <a:prstGeom prst="line">
            <a:avLst/>
          </a:prstGeom>
          <a:noFill/>
          <a:ln w="30480">
            <a:solidFill>
              <a:srgbClr val="98DDE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07808" y="2898648"/>
            <a:ext cx="978408" cy="0"/>
          </a:xfrm>
          <a:prstGeom prst="line">
            <a:avLst/>
          </a:prstGeom>
          <a:noFill/>
          <a:ln w="30480">
            <a:solidFill>
              <a:srgbClr val="9CC9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8368" y="4800600"/>
            <a:ext cx="10835640" cy="566928"/>
          </a:xfrm>
          <a:prstGeom prst="roundRect">
            <a:avLst/>
          </a:prstGeom>
          <a:solidFill>
            <a:srgbClr val="103247"/>
          </a:solidFill>
          <a:ln w="8890">
            <a:solidFill>
              <a:srgbClr val="1032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965192"/>
            <a:ext cx="822960" cy="256032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3377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읽는 문장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828800" y="4965192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즉, Quote가 유효하다는 사실은 Verifier의 appraisal 결과일 뿐이다. 비밀을 공개할 권한은 Result를 검증한 RP/KMS의 별도 정책에서 나온다.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C-001 · C-002 · C-003 · N-001/N-002/N-003/N-004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경로에 있어도 같은 trust role은 아니다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역할을 분리하면 “누가 무엇을 만들고, 누가 무엇을 믿으며, 누가 행동을 결정하는지”가 보인다.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12064" y="1463040"/>
            <a:ext cx="3401568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627632"/>
            <a:ext cx="1152144" cy="256032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9621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94944" y="203911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TDX가 보호하는 VM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694944" y="2432304"/>
            <a:ext cx="30358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임시 키를 만들고 TDREPORT를 요청한다.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401568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27632"/>
            <a:ext cx="1152144" cy="256032"/>
          </a:xfrm>
          <a:prstGeom prst="roundRect">
            <a:avLst/>
          </a:prstGeom>
          <a:solidFill>
            <a:srgbClr val="526B84"/>
          </a:solidFill>
          <a:ln w="8890">
            <a:solidFill>
              <a:srgbClr val="526B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69621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498848" y="203911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host-side transport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498848" y="2432304"/>
            <a:ext cx="30358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TDREPORT·Quote를 운반하지만 accepted Quote를 서명하지 못한다.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401568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1627632"/>
            <a:ext cx="1152144" cy="256032"/>
          </a:xfrm>
          <a:prstGeom prst="roundRect">
            <a:avLst/>
          </a:prstGeom>
          <a:solidFill>
            <a:srgbClr val="7044C8"/>
          </a:solidFill>
          <a:ln w="8890">
            <a:solidFill>
              <a:srgbClr val="704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69621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302752" y="203911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Quoting Enclave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302752" y="2432304"/>
            <a:ext cx="30358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플랫폼 TDREPORT를 확인하고 TD Quote에 서명한다.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512064" y="3547872"/>
            <a:ext cx="3401568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712464"/>
            <a:ext cx="1152144" cy="256032"/>
          </a:xfrm>
          <a:prstGeom prst="roundRect">
            <a:avLst/>
          </a:prstGeom>
          <a:solidFill>
            <a:srgbClr val="1C64D1"/>
          </a:solidFill>
          <a:ln w="8890">
            <a:solidFill>
              <a:srgbClr val="1C64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781044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94944" y="412394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증거 평가자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94944" y="4517136"/>
            <a:ext cx="30358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nonce를 보관하고 Evidence를 검증·평가해 Result를 서명한다.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4315968" y="3547872"/>
            <a:ext cx="3401568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712464"/>
            <a:ext cx="1152144" cy="256032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3781044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498848" y="412394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공개 결정자</a:t>
            </a:r>
            <a:endParaRPr lang="en-US" sz="1530" dirty="0"/>
          </a:p>
        </p:txBody>
      </p:sp>
      <p:sp>
        <p:nvSpPr>
          <p:cNvPr id="29" name="Text 27"/>
          <p:cNvSpPr/>
          <p:nvPr/>
        </p:nvSpPr>
        <p:spPr>
          <a:xfrm>
            <a:off x="4498848" y="4517136"/>
            <a:ext cx="30358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Result를 확인하고 secret release policy를 집행한다.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8119872" y="3547872"/>
            <a:ext cx="3401568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84464" y="3712464"/>
            <a:ext cx="1152144" cy="256032"/>
          </a:xfrm>
          <a:prstGeom prst="roundRect">
            <a:avLst/>
          </a:prstGeom>
          <a:solidFill>
            <a:srgbClr val="9A6500"/>
          </a:solidFill>
          <a:ln w="8890">
            <a:solidFill>
              <a:srgbClr val="9A6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84464" y="3781044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PCS/PCCS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302752" y="412394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authority / cache</a:t>
            </a:r>
            <a:endParaRPr lang="en-US" sz="1530" dirty="0"/>
          </a:p>
        </p:txBody>
      </p:sp>
      <p:sp>
        <p:nvSpPr>
          <p:cNvPr id="34" name="Text 32"/>
          <p:cNvSpPr/>
          <p:nvPr/>
        </p:nvSpPr>
        <p:spPr>
          <a:xfrm>
            <a:off x="8302752" y="4517136"/>
            <a:ext cx="30358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PCS 서명은 검증하고 PCCS cache 자체는 권위로 믿지 않는다.</a:t>
            </a:r>
            <a:endParaRPr lang="en-US" sz="1230" dirty="0"/>
          </a:p>
        </p:txBody>
      </p:sp>
      <p:sp>
        <p:nvSpPr>
          <p:cNvPr id="35" name="Shape 33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5696712"/>
            <a:ext cx="822960" cy="256032"/>
          </a:xfrm>
          <a:prstGeom prst="round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7652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구분 규칙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1828800" y="5696712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QGS가 Quote generation을 조율해도 signer는 TDQE다. Verifier가 Result를 서명해도 secret을 공개하는 owner는 RP/KMS다.</a:t>
            </a:r>
            <a:endParaRPr lang="en-US" sz="1330" dirty="0"/>
          </a:p>
        </p:txBody>
      </p:sp>
      <p:sp>
        <p:nvSpPr>
          <p:cNvPr id="39" name="Shape 37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C-002 · N-002–N-008 · B-002/B-003/B-006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공격 가능한 경로는 Evidence를 운반할 수 있어도 권한을 만들 수는 없다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host·network·QGS·PCCS·Attester input을 검증 전까지 신뢰하지 않는 위협 모델에서 시작한다.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401568" cy="2514600"/>
          </a:xfrm>
          <a:prstGeom prst="round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8483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공격자가 할 수 있는 일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841248" y="2478024"/>
            <a:ext cx="30358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drop · delay · replay · reorder · substitute · deny service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462272" y="1874520"/>
            <a:ext cx="3401568" cy="251460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EAF7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08483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80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신뢰하는 기반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4645152" y="2478024"/>
            <a:ext cx="30358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80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CPU/TDX Module · TDQE/PCK chain · PCS signatures · Verifier policy/key · RP/KMS policy/time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8266176" y="1874520"/>
            <a:ext cx="3401568" cy="2514600"/>
          </a:xfrm>
          <a:prstGeom prst="roundRect">
            <a:avLst/>
          </a:prstGeom>
          <a:solidFill>
            <a:srgbClr val="FFF7E6"/>
          </a:solidFill>
          <a:ln w="8890">
            <a:solidFill>
              <a:srgbClr val="FFF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9056" y="208483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9A65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보장하지 않는 것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8449056" y="2478024"/>
            <a:ext cx="30358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9A65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availability · code correctness · future behavior · 모든 side-channel · protected external I/O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58368" y="5074920"/>
            <a:ext cx="10835640" cy="566928"/>
          </a:xfrm>
          <a:prstGeom prst="roundRect">
            <a:avLst/>
          </a:prstGeom>
          <a:solidFill>
            <a:srgbClr val="E8F5FA"/>
          </a:solidFill>
          <a:ln w="8890">
            <a:solidFill>
              <a:srgbClr val="E8F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239512"/>
            <a:ext cx="822960" cy="256032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3080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경계의 의미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828800" y="5239512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untrusted path가 Quote를 재전송하거나 바꿔도, Verifier는 retained nonce·request·key binding을 다시 비교한다. 비교에 실패하거나 입력이 오래되면 policy는 fail closed 또는 명시된 제한 정책으로 처리한다.</a:t>
            </a:r>
            <a:endParaRPr lang="en-US" sz="1330" dirty="0"/>
          </a:p>
        </p:txBody>
      </p:sp>
      <p:sp>
        <p:nvSpPr>
          <p:cNvPr id="18" name="Shape 16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C-003 · B-001 · threat_model · availability limit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nonce는 “이 Quote가 지금 이 요청을 위한 것인가”를 확인하는 일회용 기준이다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Verifier가 기대 문맥을 보관하고, RP/KMS가 그 문맥을 TD까지 전달해야 replay와 substitution을 거부할 수 있다.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148840" cy="530352"/>
          </a:xfrm>
          <a:prstGeom prst="roundRect">
            <a:avLst/>
          </a:prstGeom>
          <a:solidFill>
            <a:srgbClr val="1C64D1"/>
          </a:solidFill>
          <a:ln w="8890">
            <a:solidFill>
              <a:srgbClr val="1C64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824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714500" y="2084832"/>
            <a:ext cx="0" cy="292608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508760"/>
            <a:ext cx="2148840" cy="530352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6824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32020" y="2084832"/>
            <a:ext cx="0" cy="292608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508760"/>
            <a:ext cx="2148840" cy="530352"/>
          </a:xfrm>
          <a:prstGeom prst="roundRect">
            <a:avLst/>
          </a:prstGeom>
          <a:solidFill>
            <a:srgbClr val="7044C8"/>
          </a:solidFill>
          <a:ln w="8890">
            <a:solidFill>
              <a:srgbClr val="7044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6824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49540" y="2084832"/>
            <a:ext cx="0" cy="292608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19072" y="2560320"/>
            <a:ext cx="3008376" cy="0"/>
          </a:xfrm>
          <a:prstGeom prst="line">
            <a:avLst/>
          </a:prstGeom>
          <a:noFill/>
          <a:ln w="25400">
            <a:solidFill>
              <a:srgbClr val="1C64D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148840" y="233172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64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 ID · subject · audience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27448" y="3246120"/>
            <a:ext cx="-3008376" cy="0"/>
          </a:xfrm>
          <a:prstGeom prst="line">
            <a:avLst/>
          </a:prstGeom>
          <a:noFill/>
          <a:ln w="25400">
            <a:solidFill>
              <a:srgbClr val="0B789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993392" y="3017520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nonce + retained expected context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719072" y="3950208"/>
            <a:ext cx="6025896" cy="0"/>
          </a:xfrm>
          <a:prstGeom prst="line">
            <a:avLst/>
          </a:prstGeom>
          <a:noFill/>
          <a:ln w="25400">
            <a:solidFill>
              <a:srgbClr val="1C64D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852928" y="372160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C64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nonce + request context + digest-suite request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58368" y="5230368"/>
            <a:ext cx="10835640" cy="566928"/>
          </a:xfrm>
          <a:prstGeom prst="roundRect">
            <a:avLst/>
          </a:prstGeom>
          <a:solidFill>
            <a:srgbClr val="F3EEFF"/>
          </a:solidFill>
          <a:ln w="8890">
            <a:solidFill>
              <a:srgbClr val="F3EE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394960"/>
            <a:ext cx="822960" cy="256032"/>
          </a:xfrm>
          <a:prstGeom prst="roundRect">
            <a:avLst/>
          </a:prstGeom>
          <a:solidFill>
            <a:srgbClr val="7044C8"/>
          </a:solidFill>
          <a:ln w="8890">
            <a:solidFill>
              <a:srgbClr val="7044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46354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읽는 문장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828800" y="5394960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Verifier가 nonce를 만들고 terminal state까지 보관한다. TD는 그 nonce와 request context를 D에 묶고, Verifier는 나중에 같은 값을 재계산해 이 Evidence가 다른 요청에서 온 것이 아닌지 확인한다.</a:t>
            </a:r>
            <a:endParaRPr 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C-004 · E-003/E-004/E-005 · X-001/X-002 · request state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QGS는 운반하고 TDQE가 서명한다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generation path에서 transport 성공과 signing authority를 분리해야 host-side daemon을 과신하지 않는다.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874520" cy="530352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27048" y="1965960"/>
            <a:ext cx="0" cy="315468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1371600"/>
            <a:ext cx="1874520" cy="530352"/>
          </a:xfrm>
          <a:prstGeom prst="roundRect">
            <a:avLst/>
          </a:prstGeom>
          <a:solidFill>
            <a:srgbClr val="526B84"/>
          </a:solidFill>
          <a:ln w="8890">
            <a:solidFill>
              <a:srgbClr val="526B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55448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41648" y="1965960"/>
            <a:ext cx="0" cy="315468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1371600"/>
            <a:ext cx="1874520" cy="530352"/>
          </a:xfrm>
          <a:prstGeom prst="roundRect">
            <a:avLst/>
          </a:prstGeom>
          <a:solidFill>
            <a:srgbClr val="7044C8"/>
          </a:solidFill>
          <a:ln w="8890">
            <a:solidFill>
              <a:srgbClr val="7044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55448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56248" y="1965960"/>
            <a:ext cx="0" cy="315468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371600"/>
            <a:ext cx="1874520" cy="530352"/>
          </a:xfrm>
          <a:prstGeom prst="roundRect">
            <a:avLst/>
          </a:prstGeom>
          <a:solidFill>
            <a:srgbClr val="9A6500"/>
          </a:solidFill>
          <a:ln w="8890">
            <a:solidFill>
              <a:srgbClr val="9A6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55448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PCCS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70848" y="1965960"/>
            <a:ext cx="0" cy="315468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36192" y="2468880"/>
            <a:ext cx="2514600" cy="0"/>
          </a:xfrm>
          <a:prstGeom prst="line">
            <a:avLst/>
          </a:prstGeom>
          <a:noFill/>
          <a:ln w="25400">
            <a:solidFill>
              <a:srgbClr val="0B789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719072" y="224028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TDREPORT: REPORTDATA에 D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050792" y="3063240"/>
            <a:ext cx="2514600" cy="0"/>
          </a:xfrm>
          <a:prstGeom prst="line">
            <a:avLst/>
          </a:prstGeom>
          <a:noFill/>
          <a:ln w="25400">
            <a:solidFill>
              <a:srgbClr val="526B84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224528" y="2834640"/>
            <a:ext cx="2176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same-platform TDREPORT + generation input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6565392" y="3657600"/>
            <a:ext cx="-2514600" cy="0"/>
          </a:xfrm>
          <a:prstGeom prst="line">
            <a:avLst/>
          </a:prstGeom>
          <a:noFill/>
          <a:ln w="25400">
            <a:solidFill>
              <a:srgbClr val="7044C8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315968" y="342900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TDQE-signed TD Quote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050792" y="4251960"/>
            <a:ext cx="-2514600" cy="0"/>
          </a:xfrm>
          <a:prstGeom prst="line">
            <a:avLst/>
          </a:prstGeom>
          <a:noFill/>
          <a:ln w="25400">
            <a:solidFill>
              <a:srgbClr val="526B84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55648" y="40233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returns through guest path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70848" y="4709160"/>
            <a:ext cx="-5020056" cy="0"/>
          </a:xfrm>
          <a:prstGeom prst="line">
            <a:avLst/>
          </a:prstGeom>
          <a:noFill/>
          <a:ln w="20320">
            <a:solidFill>
              <a:srgbClr val="9A6500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800600" y="448056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65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cached collateral / quote configuration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" y="5358384"/>
            <a:ext cx="10835640" cy="566928"/>
          </a:xfrm>
          <a:prstGeom prst="roundRect">
            <a:avLst/>
          </a:prstGeom>
          <a:solidFill>
            <a:srgbClr val="E8F5FA"/>
          </a:solidFill>
          <a:ln w="8890">
            <a:solidFill>
              <a:srgbClr val="E8F5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5522976"/>
            <a:ext cx="822960" cy="256032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59155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읽는 문장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828800" y="5522976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TD는 TDREPORT를 QGS에 넘기지만, QGS가 받은 report에 신뢰를 더하지는 않는다. TDQE가 같은 platform report를 확인하고 Quote를 서명하며, Verifier는 나중에 그 Quote와 collateral을 별도로 검증한다.</a:t>
            </a:r>
            <a:endParaRPr lang="en-US" sz="1330" dirty="0"/>
          </a:p>
        </p:txBody>
      </p:sp>
      <p:sp>
        <p:nvSpPr>
          <p:cNvPr id="31" name="Shape 29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C-002/C-004 · E-006–E-011 · B-002 · N-004/N-005/N-006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TD가 만든 Quote와 key bytes는 RP/KMS를 거쳐 Verifier의 appraisal로 들어간다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transport route를 분명히 하면 QGS의 guest path와 Evidence delivery path를 혼동하지 않는다.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3127248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993392"/>
            <a:ext cx="1152144" cy="256032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6197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96112" y="240487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896112" y="2798064"/>
            <a:ext cx="27614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exact TD Quote octets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canonical public-key bytes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 context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507992" y="1828800"/>
            <a:ext cx="3127248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2584" y="1993392"/>
            <a:ext cx="1152144" cy="256032"/>
          </a:xfrm>
          <a:prstGeom prst="roundRect">
            <a:avLst/>
          </a:prstGeom>
          <a:solidFill>
            <a:srgbClr val="1C64D1"/>
          </a:solidFill>
          <a:ln w="8890">
            <a:solidFill>
              <a:srgbClr val="1C64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206197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690872" y="240487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C64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690872" y="2798064"/>
            <a:ext cx="27614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C64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자신이 보낸 request와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C64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받은 artifact를 묶어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C64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Verifier에 전달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302752" y="1828800"/>
            <a:ext cx="3127248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67344" y="1993392"/>
            <a:ext cx="1152144" cy="256032"/>
          </a:xfrm>
          <a:prstGeom prst="roundRect">
            <a:avLst/>
          </a:prstGeom>
          <a:solidFill>
            <a:srgbClr val="7044C8"/>
          </a:solidFill>
          <a:ln w="8890">
            <a:solidFill>
              <a:srgbClr val="704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06197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485632" y="240487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485632" y="2798064"/>
            <a:ext cx="27614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Quote·key·context를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retained nonce와 비교해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 appraisal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3858768" y="3108960"/>
            <a:ext cx="603504" cy="0"/>
          </a:xfrm>
          <a:prstGeom prst="line">
            <a:avLst/>
          </a:prstGeom>
          <a:noFill/>
          <a:ln w="31750">
            <a:solidFill>
              <a:srgbClr val="0B789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53528" y="3108960"/>
            <a:ext cx="603504" cy="0"/>
          </a:xfrm>
          <a:prstGeom prst="line">
            <a:avLst/>
          </a:prstGeom>
          <a:noFill/>
          <a:ln w="31750">
            <a:solidFill>
              <a:srgbClr val="1C64D1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913632" y="278892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E-012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708392" y="278892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C64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E-013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EAF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285232"/>
            <a:ext cx="822960" cy="256032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35381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E-012 → E-013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828800" y="5285232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RP/KMS가 TD에서 받은 exact Quote, canonical key bytes, identical request context를 Verifier에 전달한다. Verifier는 보관한 expected context와 비교해 Evidence가 이 request와 이 key를 위한 것인지 판단한다.</a:t>
            </a:r>
            <a:endParaRPr lang="en-US" sz="1330" dirty="0"/>
          </a:p>
        </p:txBody>
      </p:sp>
      <p:sp>
        <p:nvSpPr>
          <p:cNvPr id="28" name="Shape 26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C-004 · E-012/E-013 · X-002/X-003/X-004 · B-004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K, D, E는 “무엇을 확인했는가”를 세 종류의 bytes에 묶는다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식은 RFC wire format이 아니라 deployment가 hash·encoding·field order를 확정해야 하는 symbolic profile이다.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691640"/>
            <a:ext cx="3383280" cy="315468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EAF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856232"/>
            <a:ext cx="1152144" cy="256032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92481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58952" y="22677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80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canonical public-key bytes의 digest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758952" y="2660904"/>
            <a:ext cx="30175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80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어느 public key가 나중에 secret을 받을 수 있는지 묶는다.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370832" y="1691640"/>
            <a:ext cx="3383280" cy="3154680"/>
          </a:xfrm>
          <a:prstGeom prst="roundRect">
            <a:avLst/>
          </a:prstGeom>
          <a:solidFill>
            <a:srgbClr val="F3EEFF"/>
          </a:solidFill>
          <a:ln w="8890">
            <a:solidFill>
              <a:srgbClr val="F3EE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1856232"/>
            <a:ext cx="1152144" cy="256032"/>
          </a:xfrm>
          <a:prstGeom prst="roundRect">
            <a:avLst/>
          </a:prstGeom>
          <a:solidFill>
            <a:srgbClr val="7044C8"/>
          </a:solidFill>
          <a:ln w="8890">
            <a:solidFill>
              <a:srgbClr val="7044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92481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553712" y="22677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nonce + request + subject + audience + K의 digest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553712" y="2660904"/>
            <a:ext cx="30175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TD가 REPORTDATA에 넣어 request context와 key를 TDREPORT에 묶는다.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165592" y="1691640"/>
            <a:ext cx="3383280" cy="3154680"/>
          </a:xfrm>
          <a:prstGeom prst="roundRect">
            <a:avLst/>
          </a:prstGeom>
          <a:solidFill>
            <a:srgbClr val="E8F5FA"/>
          </a:solidFill>
          <a:ln w="8890">
            <a:solidFill>
              <a:srgbClr val="E8F5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1856232"/>
            <a:ext cx="1152144" cy="256032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192481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348472" y="22677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exact TD Quote octets의 digest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348472" y="2660904"/>
            <a:ext cx="30175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Result가 어떤 Quote Evidence를 평가한 결과인지 RP/KMS가 확인하게 한다.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58368" y="5321808"/>
            <a:ext cx="10835640" cy="566928"/>
          </a:xfrm>
          <a:prstGeom prst="roundRect">
            <a:avLst/>
          </a:prstGeom>
          <a:solidFill>
            <a:srgbClr val="FFF7E6"/>
          </a:solidFill>
          <a:ln w="8890">
            <a:solidFill>
              <a:srgbClr val="FFF7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486400"/>
            <a:ext cx="822960" cy="256032"/>
          </a:xfrm>
          <a:prstGeom prst="roundRect">
            <a:avLst/>
          </a:prstGeom>
          <a:solidFill>
            <a:srgbClr val="9A6500"/>
          </a:solidFill>
          <a:ln w="8890">
            <a:solidFill>
              <a:srgbClr val="9A6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55498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비교 규칙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828800" y="5486400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Verifier는 retained nonce와 받은 context·key bytes로 K와 D를 재계산해 REPORTDATA와 비교하고, exact Quote bytes로 E를 계산한다. 이 비교가 맞아야 Result의 verdict와 approved K가 같은 request/Evidence를 가리킨다.</a:t>
            </a:r>
            <a:endParaRPr 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C-006 · E-006/E-012/E-013/E-015 · X-003/X-004 · symbolic profile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 Result는 평가의 서명된 기록이고, 비밀 공개 명령은 아니다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B8CF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Result에는 verdict뿐 아니라 request·policy version·E·allow-only K가 들어가 RP/KMS가 무엇을 승인하는지 다시 확인할 수 있어야 한다.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CF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3154680" cy="3200400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1152144" cy="256032"/>
          </a:xfrm>
          <a:prstGeom prst="roundRect">
            <a:avLst/>
          </a:prstGeom>
          <a:solidFill>
            <a:srgbClr val="086377"/>
          </a:solidFill>
          <a:ln w="8890">
            <a:solidFill>
              <a:srgbClr val="086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7053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Verifier가 확인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41248" y="23134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Quote와 collateral을 평가한다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841248" y="2706624"/>
            <a:ext cx="278892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Verifier는 signature·chain·status·freshness, K/D/E, reference value와 appraisal policy를 확인한다. terminal appraisal은 allow·deny·expiry 중 하나로 한 번만 소비된다.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526280" y="1737360"/>
            <a:ext cx="3154680" cy="3200400"/>
          </a:xfrm>
          <a:prstGeom prst="roundRect">
            <a:avLst/>
          </a:prstGeom>
          <a:solidFill>
            <a:srgbClr val="7044C8"/>
          </a:solidFill>
          <a:ln w="8890">
            <a:solidFill>
              <a:srgbClr val="704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1901952"/>
            <a:ext cx="1152144" cy="256032"/>
          </a:xfrm>
          <a:prstGeom prst="roundRect">
            <a:avLst/>
          </a:prstGeom>
          <a:solidFill>
            <a:srgbClr val="5630A7"/>
          </a:solidFill>
          <a:ln w="8890">
            <a:solidFill>
              <a:srgbClr val="5630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97053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709160" y="23134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정보가 넘어가는가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709160" y="2706624"/>
            <a:ext cx="278892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verdict, issuer, subject, audience, request ID, issued_at/expiry, profile/policy version, E와 allow-only approved K를 signed 한다.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394192" y="1737360"/>
            <a:ext cx="3154680" cy="3200400"/>
          </a:xfrm>
          <a:prstGeom prst="roundRect">
            <a:avLst/>
          </a:prstGeom>
          <a:solidFill>
            <a:srgbClr val="1C64D1"/>
          </a:solidFill>
          <a:ln w="8890">
            <a:solidFill>
              <a:srgbClr val="1C64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58784" y="1901952"/>
            <a:ext cx="1152144" cy="256032"/>
          </a:xfrm>
          <a:prstGeom prst="roundRect">
            <a:avLst/>
          </a:prstGeom>
          <a:solidFill>
            <a:srgbClr val="1650A8"/>
          </a:solidFill>
          <a:ln w="8890">
            <a:solidFill>
              <a:srgbClr val="1650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58784" y="197053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RP/KMS가 확인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577072" y="23134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Result를 쓸 것인가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577072" y="2706624"/>
            <a:ext cx="278892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authorized issuer, verdict, policy version, subject/audience/request, clock skew, E, K를 확인한다. 하나라도 다르면 release하지 않는다.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3840480" y="3246120"/>
            <a:ext cx="640080" cy="0"/>
          </a:xfrm>
          <a:prstGeom prst="line">
            <a:avLst/>
          </a:prstGeom>
          <a:noFill/>
          <a:ln w="29210">
            <a:solidFill>
              <a:srgbClr val="9ADDE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08392" y="3246120"/>
            <a:ext cx="640080" cy="0"/>
          </a:xfrm>
          <a:prstGeom prst="line">
            <a:avLst/>
          </a:prstGeom>
          <a:noFill/>
          <a:ln w="29210">
            <a:solidFill>
              <a:srgbClr val="BFA6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8368" y="5349240"/>
            <a:ext cx="10835640" cy="566928"/>
          </a:xfrm>
          <a:prstGeom prst="roundRect">
            <a:avLst/>
          </a:prstGeom>
          <a:solidFill>
            <a:srgbClr val="103247"/>
          </a:solidFill>
          <a:ln w="8890">
            <a:solidFill>
              <a:srgbClr val="1032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513832"/>
            <a:ext cx="822960" cy="256032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58241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읽는 문장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828800" y="5513832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Verifier가 signed Result를 RP/KMS에 보낸다. RP/KMS는 Result signature와 policy/time/E/K를 확인하지만, 그 확인 자체를 secret release로 취급하지 않고 다음 PoP·state transition 단계까지 진행한다.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C-004/C-006 · E-015 · B-005/B-006 · Result profile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비밀 공개는 PoP와 일회용 state가 통과한 뒤 한 번만 수행한다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Result가 allow여도 RP/KMS는 approved K의 private key를 실제로 가진 TD인지 확인하고 replay를 막아야 한다.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063240" cy="3017520"/>
          </a:xfrm>
          <a:prstGeom prst="roundRect">
            <a:avLst/>
          </a:prstGeom>
          <a:solidFill>
            <a:srgbClr val="F3EEFF"/>
          </a:solidFill>
          <a:ln w="8890">
            <a:solidFill>
              <a:srgbClr val="F3E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47672"/>
            <a:ext cx="1152144" cy="256032"/>
          </a:xfrm>
          <a:prstGeom prst="roundRect">
            <a:avLst/>
          </a:prstGeom>
          <a:solidFill>
            <a:srgbClr val="7044C8"/>
          </a:solidFill>
          <a:ln w="8890">
            <a:solidFill>
              <a:srgbClr val="704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1625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· PoP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RP/KMS가 challenge를 보낸다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822960" y="2752344"/>
            <a:ext cx="26974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RP/KMS가 approved K에 대한 challenge를 TD에 보내고, TD는 임시 private key로 서명한 response를 돌려준다.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553712" y="1783080"/>
            <a:ext cx="3063240" cy="3017520"/>
          </a:xfrm>
          <a:prstGeom prst="roundRect">
            <a:avLst/>
          </a:prstGeom>
          <a:solidFill>
            <a:srgbClr val="E8F5FA"/>
          </a:solidFill>
          <a:ln w="8890">
            <a:solidFill>
              <a:srgbClr val="E8F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1947672"/>
            <a:ext cx="1152144" cy="256032"/>
          </a:xfrm>
          <a:prstGeom prst="roundRect">
            <a:avLst/>
          </a:prstGeom>
          <a:solidFill>
            <a:srgbClr val="1C64D1"/>
          </a:solidFill>
          <a:ln w="8890">
            <a:solidFill>
              <a:srgbClr val="1C64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201625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· state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736592" y="23591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C64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요청을 원자적으로 소비한다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736592" y="2752344"/>
            <a:ext cx="26974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C64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Result와 request가 unused일 때만 RP/KMS가 unused → release_committed로 전이한다. 이 전이에 이긴 요청만 release할 수 있다.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467344" y="1783080"/>
            <a:ext cx="3063240" cy="301752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EAF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31936" y="1947672"/>
            <a:ext cx="1152144" cy="256032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31936" y="201625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· channel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650224" y="23591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80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approved K channel에만 보낸다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650224" y="2752344"/>
            <a:ext cx="26974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80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PoP와 atomic transition이 모두 성공한 allow path에서만 RP/KMS가 secret을 전달한다. 실패·replay·expiry는 NO KEY다.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3730752" y="3246120"/>
            <a:ext cx="777240" cy="0"/>
          </a:xfrm>
          <a:prstGeom prst="line">
            <a:avLst/>
          </a:prstGeom>
          <a:noFill/>
          <a:ln w="29210">
            <a:solidFill>
              <a:srgbClr val="7044C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44384" y="3246120"/>
            <a:ext cx="777240" cy="0"/>
          </a:xfrm>
          <a:prstGeom prst="line">
            <a:avLst/>
          </a:prstGeom>
          <a:noFill/>
          <a:ln w="29210">
            <a:solidFill>
              <a:srgbClr val="14804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8368" y="5285232"/>
            <a:ext cx="10835640" cy="566928"/>
          </a:xfrm>
          <a:prstGeom prst="round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449824"/>
            <a:ext cx="822960" cy="256032"/>
          </a:xfrm>
          <a:prstGeom prst="round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51840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allow / no-key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828800" y="5449824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RP/KMS가 Result를 확인한 뒤 TD와 PoP challenge/response를 교환한다. key possession과 one-time state transition이 모두 성공한 경우에만 RP/KMS가 E-018의 same approved K channel로 secret을 공개한다.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C-004/C-006 · E-016/E-017/E-018 · X-003 · B-006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PCCS가 살아 있다는 사실이 collateral이 유효하다는 뜻은 아니다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PCS는 signed authority data의 원천이고 PCCS는 cache/transport이므로, Verifier는 받은 bytes 자체를 검증한다.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154680" cy="2560320"/>
          </a:xfrm>
          <a:prstGeom prst="roundRect">
            <a:avLst/>
          </a:prstGeom>
          <a:solidFill>
            <a:srgbClr val="FFF7E6"/>
          </a:solidFill>
          <a:ln w="8890">
            <a:solidFill>
              <a:srgbClr val="FFF7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993392"/>
            <a:ext cx="1152144" cy="256032"/>
          </a:xfrm>
          <a:prstGeom prst="roundRect">
            <a:avLst/>
          </a:prstGeom>
          <a:solidFill>
            <a:srgbClr val="9A6500"/>
          </a:solidFill>
          <a:ln w="8890">
            <a:solidFill>
              <a:srgbClr val="9A6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6197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 PCS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24048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9A65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서명된 authority data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278892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9A65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PCK Certificate, CRL, QE Identity, TCB Info의 signed origin이다.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517136" y="1828800"/>
            <a:ext cx="3154680" cy="2560320"/>
          </a:xfrm>
          <a:prstGeom prst="round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1993392"/>
            <a:ext cx="1152144" cy="256032"/>
          </a:xfrm>
          <a:prstGeom prst="roundRect">
            <a:avLst/>
          </a:prstGeom>
          <a:solidFill>
            <a:srgbClr val="526B84"/>
          </a:solidFill>
          <a:ln w="8890">
            <a:solidFill>
              <a:srgbClr val="526B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06197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PCCS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700016" y="24048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cache / transport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700016" y="2798064"/>
            <a:ext cx="278892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cached signed bytes와 quote configuration을 전달한다. availability와 authority는 다른 성질이다.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348472" y="1828800"/>
            <a:ext cx="3154680" cy="2560320"/>
          </a:xfrm>
          <a:prstGeom prst="roundRect">
            <a:avLst/>
          </a:prstGeom>
          <a:solidFill>
            <a:srgbClr val="E8F5FA"/>
          </a:solidFill>
          <a:ln w="8890">
            <a:solidFill>
              <a:srgbClr val="E8F5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13064" y="1993392"/>
            <a:ext cx="1152144" cy="256032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13064" y="206197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531352" y="24048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received bytes를 검증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531352" y="2798064"/>
            <a:ext cx="278892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signature·issuer chain·revocation status·expiry/freshness를 확인하고 그 결과를 Quote appraisal에 사용한다.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3858768" y="3108960"/>
            <a:ext cx="621792" cy="0"/>
          </a:xfrm>
          <a:prstGeom prst="line">
            <a:avLst/>
          </a:prstGeom>
          <a:noFill/>
          <a:ln w="29210">
            <a:solidFill>
              <a:srgbClr val="9A650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90104" y="3108960"/>
            <a:ext cx="621792" cy="0"/>
          </a:xfrm>
          <a:prstGeom prst="line">
            <a:avLst/>
          </a:prstGeom>
          <a:noFill/>
          <a:ln w="29210">
            <a:solidFill>
              <a:srgbClr val="0B789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8368" y="5166360"/>
            <a:ext cx="10835640" cy="566928"/>
          </a:xfrm>
          <a:prstGeom prst="round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330952"/>
            <a:ext cx="822960" cy="256032"/>
          </a:xfrm>
          <a:prstGeom prst="round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9953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결과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828800" y="5330952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PCCS outage, nextUpdate 실패, revocation, TCB 변경은 운영 policy가 처리해야 한다. Verifier는 PCCS cache를 믿어서가 아니라 received collateral의 cryptographic validity와 freshness를 확인해서만 사용한다.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C-005 · E-008/E-009/E-014 · B-003 · N-007/N-008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Quote는 TD가 보고한 상태를 보여 주지만 workload의 모든 성질을 증명하지는 않는다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proof boundary를 분리해야 valid Quote를 code correctness나 container identity로 과대 해석하지 않는다.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508760"/>
            <a:ext cx="5285232" cy="429768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EAF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105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80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경로로 알 수 있는 것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496312"/>
            <a:ext cx="109728" cy="109728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423160"/>
            <a:ext cx="4178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integrity와 accepted quoting credential 연결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914400" y="3118104"/>
            <a:ext cx="109728" cy="109728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044952"/>
            <a:ext cx="4178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reported TD measurement·attribute·TCB state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914400" y="3739896"/>
            <a:ext cx="109728" cy="109728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666744"/>
            <a:ext cx="4178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D가 retained context와 canonical key에 묶였는지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914400" y="4361688"/>
            <a:ext cx="109728" cy="109728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288536"/>
            <a:ext cx="4178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Result가 E·policy version·allow-only K를 가리키는지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6272784" y="1508760"/>
            <a:ext cx="5285232" cy="4297680"/>
          </a:xfrm>
          <a:prstGeom prst="round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81051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Quote만으로는 알 수 없는 것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65392" y="2496312"/>
            <a:ext cx="109728" cy="109728"/>
          </a:xfrm>
          <a:prstGeom prst="round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2423160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code correctness 또는 vulnerability absence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565392" y="3118104"/>
            <a:ext cx="109728" cy="109728"/>
          </a:xfrm>
          <a:prstGeom prst="round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1424" y="3044952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 안의 container/process 자동 identity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6565392" y="3739896"/>
            <a:ext cx="109728" cy="109728"/>
          </a:xfrm>
          <a:prstGeom prst="round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3666744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attestation 이후의 future-safe behavior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6565392" y="4361688"/>
            <a:ext cx="109728" cy="109728"/>
          </a:xfrm>
          <a:prstGeom prst="round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4288536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availability와 모든 side-channel·I/O·physical·supply-chain risk 제거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58368" y="5806440"/>
            <a:ext cx="10835640" cy="438912"/>
          </a:xfrm>
          <a:prstGeom prst="roundRect">
            <a:avLst/>
          </a:prstGeom>
          <a:solidFill>
            <a:srgbClr val="FFF7E6"/>
          </a:solidFill>
          <a:ln w="8890">
            <a:solidFill>
              <a:srgbClr val="FFF7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971032"/>
            <a:ext cx="822960" cy="256032"/>
          </a:xfrm>
          <a:prstGeom prst="roundRect">
            <a:avLst/>
          </a:prstGeom>
          <a:solidFill>
            <a:srgbClr val="9A6500"/>
          </a:solidFill>
          <a:ln w="8890">
            <a:solidFill>
              <a:srgbClr val="9A6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603961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판단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828800" y="5971032"/>
            <a:ext cx="9482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검증은 workload correctness나 container identity를 증명하지 않는다. 그것이 release 조건이면 workload Evidence와 runtime control을 별도로 추가한다.</a:t>
            </a:r>
            <a:endParaRPr lang="en-US" sz="1330" dirty="0"/>
          </a:p>
        </p:txBody>
      </p:sp>
      <p:sp>
        <p:nvSpPr>
          <p:cNvPr id="29" name="Shape 27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C-007 · C-009 · B-007 · proves / does_not_prove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Intel-rats는 판단 구조를 배우는 학습 자료이지 운영 verifier 기준은 아니다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B8CF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프로젝트는 도메인 판단 구조와 설계 검토 질문을 보이게 하지만 production implementation을 보증하지는 않는다.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CF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755648"/>
            <a:ext cx="3337560" cy="3063240"/>
          </a:xfrm>
          <a:prstGeom prst="round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20240"/>
            <a:ext cx="1152144" cy="256032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88820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취할 강점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도메인 구조를 보이게 한다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822960" y="2724912"/>
            <a:ext cx="2971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TD·Guest Agent·Verifier·Key Broker·PCS/PCCS·policy owner를 하나의 release decision으로 연결해 design review 질문을 만든다.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425696" y="1755648"/>
            <a:ext cx="3337560" cy="3063240"/>
          </a:xfrm>
          <a:prstGeom prst="roundRect">
            <a:avLst/>
          </a:prstGeom>
          <a:solidFill>
            <a:srgbClr val="3B1F2A"/>
          </a:solidFill>
          <a:ln w="8890">
            <a:solidFill>
              <a:srgbClr val="3B1F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1920240"/>
            <a:ext cx="1152144" cy="256032"/>
          </a:xfrm>
          <a:prstGeom prst="round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988820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고쳐 읽을 부분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608576" y="23317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표준 route와 다를 수 있다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608576" y="2724912"/>
            <a:ext cx="2971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Background Check과 aggregate graph가 전달 패턴을 섞을 수 있다. nonce·audience·expiry·workload Evidence는 first-class type으로 보완해야 한다.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211312" y="1755648"/>
            <a:ext cx="3337560" cy="3063240"/>
          </a:xfrm>
          <a:prstGeom prst="roundRect">
            <a:avLst/>
          </a:prstGeom>
          <a:solidFill>
            <a:srgbClr val="1C64D1"/>
          </a:solidFill>
          <a:ln w="8890">
            <a:solidFill>
              <a:srgbClr val="1C64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1920240"/>
            <a:ext cx="1152144" cy="256032"/>
          </a:xfrm>
          <a:prstGeom prst="roundRect">
            <a:avLst/>
          </a:prstGeom>
          <a:solidFill>
            <a:srgbClr val="1650A8"/>
          </a:solidFill>
          <a:ln w="8890">
            <a:solidFill>
              <a:srgbClr val="1650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1988820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 결론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394192" y="23317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학습과 설계 질문에는 사용한다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394192" y="2724912"/>
            <a:ext cx="2971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구현·security approval·runtime enforcement의 단독 근거로 쓰지 않는다. RFC 9334와 current Intel TDX/DCAP documentation으로 보완한다.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58368" y="5266944"/>
            <a:ext cx="10835640" cy="566928"/>
          </a:xfrm>
          <a:prstGeom prst="roundRect">
            <a:avLst/>
          </a:prstGeom>
          <a:solidFill>
            <a:srgbClr val="103247"/>
          </a:solidFill>
          <a:ln w="8890">
            <a:solidFill>
              <a:srgbClr val="10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431536"/>
            <a:ext cx="822960" cy="256032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50011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reader question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828800" y="5431536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Intel-rats를 볼 때는 “누가 Evidence를 평가하고, 누가 release policy를 소유하며, 어떤 binding과 failure state가 explicit한가”를 질문한다. 답이 없는 부분은 실제 deployment 설계에서 추가해야 한다.</a:t>
            </a:r>
            <a:endParaRPr 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3351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8CF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C-008 · caveats · project lens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B8CF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TDX Quote를 container identity로 읽으면 증명 경계를 넘어선다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SGX와 TDX는 Evidence → appraisal → policy action 구조를 공유하지만, attested scope와 concrete mechanism은 다르다.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029200" cy="3200400"/>
          </a:xfrm>
          <a:prstGeom prst="roundRect">
            <a:avLst/>
          </a:prstGeom>
          <a:solidFill>
            <a:srgbClr val="F3EEFF"/>
          </a:solidFill>
          <a:ln w="8890">
            <a:solidFill>
              <a:srgbClr val="F3E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01952"/>
            <a:ext cx="1152144" cy="256032"/>
          </a:xfrm>
          <a:prstGeom prst="roundRect">
            <a:avLst/>
          </a:prstGeom>
          <a:solidFill>
            <a:srgbClr val="7044C8"/>
          </a:solidFill>
          <a:ln w="8890">
            <a:solidFill>
              <a:srgbClr val="704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7053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SGX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914400" y="23134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enclave identity 중심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914400" y="2706624"/>
            <a:ext cx="46634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SGX는 MRENCLAVE·MRSIGNER 같은 enclave identity를 중심으로 attestation을 읽는다. 그래도 code correctness나 future safety는 별도 문제다.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419088" y="1737360"/>
            <a:ext cx="5029200" cy="3200400"/>
          </a:xfrm>
          <a:prstGeom prst="roundRect">
            <a:avLst/>
          </a:prstGeom>
          <a:solidFill>
            <a:srgbClr val="E8F5FA"/>
          </a:solidFill>
          <a:ln w="8890">
            <a:solidFill>
              <a:srgbClr val="E8F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901952"/>
            <a:ext cx="1152144" cy="256032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97053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TDX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601968" y="23134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whole Trust Domain / VM 경계 중심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6601968" y="2706624"/>
            <a:ext cx="46634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TDX Quote는 firmware·OS·workload를 포함할 수 있는 TD 전체 VM state를 보고한다. TD 안의 개별 container 신원은 자동으로 나오지 않는다.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58368" y="5303520"/>
            <a:ext cx="10835640" cy="566928"/>
          </a:xfrm>
          <a:prstGeom prst="round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5468112"/>
            <a:ext cx="822960" cy="256032"/>
          </a:xfrm>
          <a:prstGeom prst="round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5366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scope limit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828800" y="5468112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컨테이너가 준 값을 REPORTDATA에 넣어도 컨테이너의 독립 identity가 증명되는 것은 아니다. protected identity가 container라면 workload-specific Evidence와 policy check를 별도로 설계한다.</a:t>
            </a:r>
            <a:endParaRPr lang="en-US" sz="1330" dirty="0"/>
          </a:p>
        </p:txBody>
      </p:sp>
      <p:sp>
        <p:nvSpPr>
          <p:cNvPr id="19" name="Shape 17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C-009 · C-007 · B-007 · SGX vs TDX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파일럿은 회수 가능한 단일 key-release path와 명확한 책임자에서 시작한다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출시 전에는 appraisal과 release의 책임자, collateral 운영, key binding, replay/expiry failure를 수치 기준으로 확정한다.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5349240" cy="1481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보안·플랫폼 책임자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4983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reference values, TCB/freshness/binding appraisal policy, revocation/re-attestation 기준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190488" y="1481328"/>
            <a:ext cx="5349240" cy="1481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69164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보호 자산 서비스 책임자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6373368" y="2084832"/>
            <a:ext cx="4983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Result-use/release policy, subject/audience/clock skew, fail-closed 운영 조건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566928" y="3364992"/>
            <a:ext cx="5349240" cy="1481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57530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플랫폼 운영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749808" y="3968496"/>
            <a:ext cx="4983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PCS/PCCS 갱신, collateral outage posture, revocation-to-deny SLO, audit/recovery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190488" y="3364992"/>
            <a:ext cx="5349240" cy="1481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357530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개발자·아키텍트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73368" y="3968496"/>
            <a:ext cx="4983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challenge state machine, K/D/E suite, Result/PoP, negative tests, key rotation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58368" y="5413248"/>
            <a:ext cx="10835640" cy="566928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EAF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577840"/>
            <a:ext cx="822960" cy="256032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64642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출시 gate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828800" y="5577840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80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pilot은 가치가 높고 회수 가능한 단일 key-release path로 제한한다. forged Quote·nonce replay·key substitution·Verifier/PCCS failure에서 공개된 key는 0개여야 한다.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C-010 · N-001 · E-001/E-002 · developer/executive implications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Appendix: full Point claim · model · prose trace ledger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deck은 10 claims, 8 nodes, 18 edges, 7 boundaries와 context/state/proof/implication inventory를 canonical Point hash에 연결한다.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868680" cy="457200"/>
          </a:xfrm>
          <a:prstGeom prst="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9105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Point claim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1828800" y="1417320"/>
            <a:ext cx="5074920" cy="457200"/>
          </a:xfrm>
          <a:prstGeom prst="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591056"/>
            <a:ext cx="4892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Reader-visible meaning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223760" y="1417320"/>
            <a:ext cx="4023360" cy="457200"/>
          </a:xfrm>
          <a:prstGeom prst="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591056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Primary slide(s)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58368" y="1874520"/>
            <a:ext cx="86868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002536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C-001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828800" y="1874520"/>
            <a:ext cx="50749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002536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release-control thesis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223760" y="1874520"/>
            <a:ext cx="40233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002536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58368" y="2267712"/>
            <a:ext cx="86868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395728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C-002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1828800" y="2267712"/>
            <a:ext cx="507492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2395728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actors / trust roles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223760" y="2267712"/>
            <a:ext cx="402336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395728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02, 05, 10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58368" y="2660904"/>
            <a:ext cx="86868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788920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C-003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1828800" y="2660904"/>
            <a:ext cx="50749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2788920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threat and trust assumptions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223760" y="2660904"/>
            <a:ext cx="40233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2788920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03, 04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58368" y="3054096"/>
            <a:ext cx="86868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182112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C-004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1828800" y="3054096"/>
            <a:ext cx="507492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3182112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closed Background Check path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223760" y="3054096"/>
            <a:ext cx="402336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3182112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04–09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58368" y="3447288"/>
            <a:ext cx="86868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575304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C-005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1828800" y="3447288"/>
            <a:ext cx="50749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20240" y="3575304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PCS/PCCS collateral path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7223760" y="3447288"/>
            <a:ext cx="40233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3575304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58368" y="3840480"/>
            <a:ext cx="86868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3968496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C-006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1828800" y="3840480"/>
            <a:ext cx="507492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20240" y="3968496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K/D/E + Result profile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7223760" y="3840480"/>
            <a:ext cx="402336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3968496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07–09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58368" y="4233672"/>
            <a:ext cx="86868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4361688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C-007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1828800" y="4233672"/>
            <a:ext cx="50749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20240" y="4361688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proof / non-proof boundary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7223760" y="4233672"/>
            <a:ext cx="40233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4361688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658368" y="4626864"/>
            <a:ext cx="86868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754880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C-008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1828800" y="4626864"/>
            <a:ext cx="507492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20240" y="4754880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Intel-rats strengths / corrections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7223760" y="4626864"/>
            <a:ext cx="402336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0" y="4754880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658368" y="5020056"/>
            <a:ext cx="86868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" y="5148072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C-009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1828800" y="5020056"/>
            <a:ext cx="50749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20240" y="5148072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SGX vs TDX scope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7223760" y="5020056"/>
            <a:ext cx="40233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0" y="5148072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658368" y="5413248"/>
            <a:ext cx="86868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" y="5541264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C-010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1828800" y="5413248"/>
            <a:ext cx="507492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20240" y="5541264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owners and pilot</a:t>
            </a:r>
            <a:endParaRPr lang="en-US" sz="920" dirty="0"/>
          </a:p>
        </p:txBody>
      </p:sp>
      <p:sp>
        <p:nvSpPr>
          <p:cNvPr id="69" name="Shape 67"/>
          <p:cNvSpPr/>
          <p:nvPr/>
        </p:nvSpPr>
        <p:spPr>
          <a:xfrm>
            <a:off x="7223760" y="5413248"/>
            <a:ext cx="4023360" cy="384048"/>
          </a:xfrm>
          <a:prstGeom prst="rect">
            <a:avLst/>
          </a:prstGeom>
          <a:solidFill>
            <a:srgbClr val="EDF2F7"/>
          </a:solidFill>
          <a:ln w="8890">
            <a:solidFill>
              <a:srgbClr val="EDF2F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0" y="5541264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658368" y="5971032"/>
            <a:ext cx="11045952" cy="228600"/>
          </a:xfrm>
          <a:prstGeom prst="roundRect">
            <a:avLst/>
          </a:prstGeom>
          <a:solidFill>
            <a:srgbClr val="FFF7E6"/>
          </a:solidFill>
          <a:ln w="8890">
            <a:solidFill>
              <a:srgbClr val="FFF7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6044184"/>
            <a:ext cx="10607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9A65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Exact object-level location, qualifiers, proof limits, implications, sources, and all N/E/B/X IDs: final/structural-coverage-map.json + final/prose-trace.json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Canonical Point hash and complete coverage/prose trace.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 · Intel DCAP / TDX documentation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Bitboom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 TDX 원격 증명 — full Point prose deck</dc:title>
  <dc:subject>Complete prose-preserving Point projection</dc:subject>
  <dc:creator>Bitboom</dc:creator>
  <cp:lastModifiedBy>Bitboom</cp:lastModifiedBy>
  <cp:revision>1</cp:revision>
  <dcterms:created xsi:type="dcterms:W3CDTF">2026-07-18T09:24:07Z</dcterms:created>
  <dcterms:modified xsi:type="dcterms:W3CDTF">2026-07-18T09:24:07Z</dcterms:modified>
</cp:coreProperties>
</file>