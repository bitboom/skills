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Quote는 비밀 공개 권한이 아니다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21208" y="8321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B8CFE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원격 증명은 Evidence를 평가하는 사람과 비밀 공개를 결정하는 사람을 분리하는 release control이다.</a:t>
            </a:r>
            <a:endParaRPr lang="en-US" sz="143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8CFE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2834640" cy="2697480"/>
          </a:xfrm>
          <a:prstGeom prst="roundRect">
            <a:avLst/>
          </a:prstGeom>
          <a:solidFill>
            <a:srgbClr val="12334A"/>
          </a:solidFill>
          <a:ln w="8890">
            <a:solidFill>
              <a:srgbClr val="123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64792"/>
            <a:ext cx="1152144" cy="256032"/>
          </a:xfrm>
          <a:prstGeom prst="roundRect">
            <a:avLst/>
          </a:prstGeom>
          <a:solidFill>
            <a:srgbClr val="0B7890"/>
          </a:solidFill>
          <a:ln w="8890">
            <a:solidFill>
              <a:srgbClr val="0B78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33372"/>
            <a:ext cx="11521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· TD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749808" y="2176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TD가 무엇을 보낸다</a:t>
            </a:r>
            <a:endParaRPr lang="en-US" sz="1530" dirty="0"/>
          </a:p>
        </p:txBody>
      </p:sp>
      <p:sp>
        <p:nvSpPr>
          <p:cNvPr id="9" name="Text 7"/>
          <p:cNvSpPr/>
          <p:nvPr/>
        </p:nvSpPr>
        <p:spPr>
          <a:xfrm>
            <a:off x="749808" y="2569464"/>
            <a:ext cx="24688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TD는 request context와 임시 키를 묶은 TDREPORT와 Quote를 만든다. QGS는 운반하고 TDQE가 Quote에 서명한다.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681728" y="1600200"/>
            <a:ext cx="2834640" cy="2697480"/>
          </a:xfrm>
          <a:prstGeom prst="roundRect">
            <a:avLst/>
          </a:prstGeom>
          <a:solidFill>
            <a:srgbClr val="0B7890"/>
          </a:solidFill>
          <a:ln w="8890">
            <a:solidFill>
              <a:srgbClr val="0B78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764792"/>
            <a:ext cx="1152144" cy="256032"/>
          </a:xfrm>
          <a:prstGeom prst="roundRect">
            <a:avLst/>
          </a:prstGeom>
          <a:solidFill>
            <a:srgbClr val="086377"/>
          </a:solidFill>
          <a:ln w="8890">
            <a:solidFill>
              <a:srgbClr val="086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833372"/>
            <a:ext cx="11521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· Verifier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4864608" y="2176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Verifier가 무엇을 확인한다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4864608" y="2569464"/>
            <a:ext cx="24688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Verifier는 Quote·collateral·request·key를 함께 확인해 signed Result를 만든다. Result는 아직 공개 명령이 아니다.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8796528" y="1600200"/>
            <a:ext cx="2834640" cy="2697480"/>
          </a:xfrm>
          <a:prstGeom prst="roundRect">
            <a:avLst/>
          </a:prstGeom>
          <a:solidFill>
            <a:srgbClr val="1C64D1"/>
          </a:solidFill>
          <a:ln w="8890">
            <a:solidFill>
              <a:srgbClr val="1C64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0" y="1764792"/>
            <a:ext cx="1152144" cy="256032"/>
          </a:xfrm>
          <a:prstGeom prst="roundRect">
            <a:avLst/>
          </a:prstGeom>
          <a:solidFill>
            <a:srgbClr val="1650A8"/>
          </a:solidFill>
          <a:ln w="8890">
            <a:solidFill>
              <a:srgbClr val="1650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1833372"/>
            <a:ext cx="11521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 · RP/KMS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8979408" y="2176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RP/KMS가 공개를 결정한다</a:t>
            </a:r>
            <a:endParaRPr lang="en-US" sz="1530" dirty="0"/>
          </a:p>
        </p:txBody>
      </p:sp>
      <p:sp>
        <p:nvSpPr>
          <p:cNvPr id="19" name="Text 17"/>
          <p:cNvSpPr/>
          <p:nvPr/>
        </p:nvSpPr>
        <p:spPr>
          <a:xfrm>
            <a:off x="8979408" y="2569464"/>
            <a:ext cx="24688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RP/KMS는 Result·시간·E/K·key possession을 다시 확인하고, allow일 때만 같은 key channel에 secret을 보낸다.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3429000" y="2880360"/>
            <a:ext cx="1216152" cy="0"/>
          </a:xfrm>
          <a:prstGeom prst="line">
            <a:avLst/>
          </a:prstGeom>
          <a:noFill/>
          <a:ln w="30480">
            <a:solidFill>
              <a:srgbClr val="98DDEA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383280" y="2587752"/>
            <a:ext cx="1307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B8F0F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Evidence + key + context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543800" y="2880360"/>
            <a:ext cx="1216152" cy="0"/>
          </a:xfrm>
          <a:prstGeom prst="line">
            <a:avLst/>
          </a:prstGeom>
          <a:noFill/>
          <a:ln w="30480">
            <a:solidFill>
              <a:srgbClr val="9CC9FF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635240" y="2587752"/>
            <a:ext cx="10241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C5E1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signed Result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658368" y="4709160"/>
            <a:ext cx="10835640" cy="566928"/>
          </a:xfrm>
          <a:prstGeom prst="roundRect">
            <a:avLst/>
          </a:prstGeom>
          <a:solidFill>
            <a:srgbClr val="103247"/>
          </a:solidFill>
          <a:ln w="8890">
            <a:solidFill>
              <a:srgbClr val="10324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873752"/>
            <a:ext cx="822960" cy="256032"/>
          </a:xfrm>
          <a:prstGeom prst="roundRect">
            <a:avLst/>
          </a:prstGeom>
          <a:solidFill>
            <a:srgbClr val="14804A"/>
          </a:solidFill>
          <a:ln w="8890">
            <a:solidFill>
              <a:srgbClr val="148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942332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읽는 문장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1828800" y="4873752"/>
            <a:ext cx="9482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Verifier가 Evidence를 평가해도 secret을 공개하지는 않는다. 공개 권한은 RP/KMS가 자신의 release policy로 Result를 확인한 뒤에만 행사한다.</a:t>
            </a:r>
            <a:endParaRPr lang="en-US" sz="1330" dirty="0"/>
          </a:p>
        </p:txBody>
      </p:sp>
      <p:sp>
        <p:nvSpPr>
          <p:cNvPr id="28" name="Shape 26"/>
          <p:cNvSpPr/>
          <p:nvPr/>
        </p:nvSpPr>
        <p:spPr>
          <a:xfrm>
            <a:off x="658368" y="5486400"/>
            <a:ext cx="5166360" cy="493776"/>
          </a:xfrm>
          <a:prstGeom prst="roundRect">
            <a:avLst/>
          </a:prstGeom>
          <a:solidFill>
            <a:srgbClr val="14384D"/>
          </a:solidFill>
          <a:ln w="8890">
            <a:solidFill>
              <a:srgbClr val="1438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5650992"/>
            <a:ext cx="4754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D9F0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증명: reported TD state와 bound request/key를 policy로 평가할 수 있다.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6144768" y="5486400"/>
            <a:ext cx="5349240" cy="493776"/>
          </a:xfrm>
          <a:prstGeom prst="roundRect">
            <a:avLst/>
          </a:prstGeom>
          <a:solidFill>
            <a:srgbClr val="47222D"/>
          </a:solidFill>
          <a:ln w="8890">
            <a:solidFill>
              <a:srgbClr val="4722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5650992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FFE4E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비증명: code correctness · container identity · future safety · availability.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502920" y="6345936"/>
            <a:ext cx="11183112" cy="0"/>
          </a:xfrm>
          <a:prstGeom prst="line">
            <a:avLst/>
          </a:prstGeom>
          <a:noFill/>
          <a:ln w="6350">
            <a:solidFill>
              <a:srgbClr val="3351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6473952"/>
            <a:ext cx="7772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B8CFE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C-001 · C-004 · C-007 · B-004/B-006 · summary must-see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7543800" y="647395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B8CFE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Sources: RFC 9334 · Intel DCAP / TDX documentation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비밀은 “검증 성공” 뒤에도 두 번 더 확인한 뒤에만 공개된다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21208" y="8321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526B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 binding → Quote → appraisal Result → PoP → same-key release의 순서를 한 개의 닫힌 path로 읽는다.</a:t>
            </a:r>
            <a:endParaRPr lang="en-US" sz="1430" dirty="0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26B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2487168" cy="3429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764792"/>
            <a:ext cx="1152144" cy="256032"/>
          </a:xfrm>
          <a:prstGeom prst="roundRect">
            <a:avLst/>
          </a:prstGeom>
          <a:solidFill>
            <a:srgbClr val="1C64D1"/>
          </a:solidFill>
          <a:ln w="8890">
            <a:solidFill>
              <a:srgbClr val="1C64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833372"/>
            <a:ext cx="11521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713232" y="21762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요청을 묶는다</a:t>
            </a:r>
            <a:endParaRPr lang="en-US" sz="1530" dirty="0"/>
          </a:p>
        </p:txBody>
      </p:sp>
      <p:sp>
        <p:nvSpPr>
          <p:cNvPr id="9" name="Text 7"/>
          <p:cNvSpPr/>
          <p:nvPr/>
        </p:nvSpPr>
        <p:spPr>
          <a:xfrm>
            <a:off x="713232" y="2569464"/>
            <a:ext cx="21214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RP/KMS가 request ID·subject·audience를 보내고, Verifier는 nonce와 기대 문맥을 보관한다.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3054096" y="3246120"/>
            <a:ext cx="310896" cy="0"/>
          </a:xfrm>
          <a:prstGeom prst="line">
            <a:avLst/>
          </a:prstGeom>
          <a:noFill/>
          <a:ln w="22860">
            <a:solidFill>
              <a:srgbClr val="1C64D1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19856" y="1600200"/>
            <a:ext cx="2487168" cy="3429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84448" y="1764792"/>
            <a:ext cx="1152144" cy="256032"/>
          </a:xfrm>
          <a:prstGeom prst="roundRect">
            <a:avLst/>
          </a:prstGeom>
          <a:solidFill>
            <a:srgbClr val="0B7890"/>
          </a:solidFill>
          <a:ln w="8890">
            <a:solidFill>
              <a:srgbClr val="0B78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84448" y="1833372"/>
            <a:ext cx="11521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3602736" y="21762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Quote를 만든다</a:t>
            </a:r>
            <a:endParaRPr lang="en-US" sz="1530" dirty="0"/>
          </a:p>
        </p:txBody>
      </p:sp>
      <p:sp>
        <p:nvSpPr>
          <p:cNvPr id="15" name="Text 13"/>
          <p:cNvSpPr/>
          <p:nvPr/>
        </p:nvSpPr>
        <p:spPr>
          <a:xfrm>
            <a:off x="3602736" y="2569464"/>
            <a:ext cx="21214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TD가 D를 REPORTDATA에 넣고, QGS가 TDREPORT를 TDQE로 운반해 signed Quote를 받는다.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310896" cy="0"/>
          </a:xfrm>
          <a:prstGeom prst="line">
            <a:avLst/>
          </a:prstGeom>
          <a:noFill/>
          <a:ln w="22860">
            <a:solidFill>
              <a:srgbClr val="0B789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09360" y="1600200"/>
            <a:ext cx="2487168" cy="3429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73952" y="1764792"/>
            <a:ext cx="1152144" cy="256032"/>
          </a:xfrm>
          <a:prstGeom prst="roundRect">
            <a:avLst/>
          </a:prstGeom>
          <a:solidFill>
            <a:srgbClr val="7044C8"/>
          </a:solidFill>
          <a:ln w="8890">
            <a:solidFill>
              <a:srgbClr val="7044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833372"/>
            <a:ext cx="11521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6492240" y="21762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Evidence를 평가한다</a:t>
            </a:r>
            <a:endParaRPr lang="en-US" sz="1530" dirty="0"/>
          </a:p>
        </p:txBody>
      </p:sp>
      <p:sp>
        <p:nvSpPr>
          <p:cNvPr id="21" name="Text 19"/>
          <p:cNvSpPr/>
          <p:nvPr/>
        </p:nvSpPr>
        <p:spPr>
          <a:xfrm>
            <a:off x="6492240" y="2569464"/>
            <a:ext cx="21214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RP/KMS가 Quote·key·동일 문맥을 Verifier에 보내면, Verifier가 K/D/E와 collateral을 확인한다.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8833104" y="3246120"/>
            <a:ext cx="310896" cy="0"/>
          </a:xfrm>
          <a:prstGeom prst="line">
            <a:avLst/>
          </a:prstGeom>
          <a:noFill/>
          <a:ln w="22860">
            <a:solidFill>
              <a:srgbClr val="7044C8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98864" y="1600200"/>
            <a:ext cx="2487168" cy="3429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63456" y="1764792"/>
            <a:ext cx="1152144" cy="256032"/>
          </a:xfrm>
          <a:prstGeom prst="roundRect">
            <a:avLst/>
          </a:prstGeom>
          <a:solidFill>
            <a:srgbClr val="14804A"/>
          </a:solidFill>
          <a:ln w="8890">
            <a:solidFill>
              <a:srgbClr val="148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63456" y="1833372"/>
            <a:ext cx="11521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9381744" y="21762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Result를 사용한다</a:t>
            </a:r>
            <a:endParaRPr lang="en-US" sz="1530" dirty="0"/>
          </a:p>
        </p:txBody>
      </p:sp>
      <p:sp>
        <p:nvSpPr>
          <p:cNvPr id="27" name="Text 25"/>
          <p:cNvSpPr/>
          <p:nvPr/>
        </p:nvSpPr>
        <p:spPr>
          <a:xfrm>
            <a:off x="9381744" y="2569464"/>
            <a:ext cx="21214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2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RP/KMS가 signed Result·time·E/K·PoP를 확인한 뒤 allow일 때만 secret을 보낸다.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658368" y="5413248"/>
            <a:ext cx="10835640" cy="566928"/>
          </a:xfrm>
          <a:prstGeom prst="roundRect">
            <a:avLst/>
          </a:prstGeom>
          <a:solidFill>
            <a:srgbClr val="FFF0EF"/>
          </a:solidFill>
          <a:ln w="8890">
            <a:solidFill>
              <a:srgbClr val="FFF0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" y="5577840"/>
            <a:ext cx="822960" cy="256032"/>
          </a:xfrm>
          <a:prstGeom prst="roundRect">
            <a:avLst/>
          </a:prstGeom>
          <a:solidFill>
            <a:srgbClr val="B42318"/>
          </a:solidFill>
          <a:ln w="8890">
            <a:solidFill>
              <a:srgbClr val="B4231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646420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 규칙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1828800" y="5577840"/>
            <a:ext cx="9482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4231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deny·replay·expiry·invalid collateral·failed PoP 중 하나라도 발생하면 RP/KMS는 NO KEY로 끝낸다. 재시도는 기존 상태를 재사용하지 않고 새 nonce로 시작한다.</a:t>
            </a:r>
            <a:endParaRPr lang="en-US" sz="1330" dirty="0"/>
          </a:p>
        </p:txBody>
      </p:sp>
      <p:sp>
        <p:nvSpPr>
          <p:cNvPr id="32" name="Shape 30"/>
          <p:cNvSpPr/>
          <p:nvPr/>
        </p:nvSpPr>
        <p:spPr>
          <a:xfrm>
            <a:off x="502920" y="6345936"/>
            <a:ext cx="11183112" cy="0"/>
          </a:xfrm>
          <a:prstGeom prst="line">
            <a:avLst/>
          </a:prstGeom>
          <a:noFill/>
          <a:ln w="6350">
            <a:solidFill>
              <a:srgbClr val="C9D6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6473952"/>
            <a:ext cx="7772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B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C-003/C-004/C-006 · E-003–E-018 · failure path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7543800" y="647395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26B8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Sources: RFC 9334 · Intel DCAP / TDX documentation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Bitboom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 TDX 원격 증명 — Point prose summary</dc:title>
  <dc:subject>Two-slide Point-first explanation</dc:subject>
  <dc:creator>Bitboom</dc:creator>
  <cp:lastModifiedBy>Bitboom</cp:lastModifiedBy>
  <cp:revision>1</cp:revision>
  <dcterms:created xsi:type="dcterms:W3CDTF">2026-07-18T09:24:07Z</dcterms:created>
  <dcterms:modified xsi:type="dcterms:W3CDTF">2026-07-18T09:24:07Z</dcterms:modified>
</cp:coreProperties>
</file>