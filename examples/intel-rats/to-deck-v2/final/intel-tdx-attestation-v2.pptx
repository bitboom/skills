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검증은 증거를 판정하고, 공개는 정책이 결정한다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유효한 Quote는 자동 권한 부여가 아니다. signed Result는 RP/KMS release policy의 입력이다.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2852928" y="1225296"/>
            <a:ext cx="2880360" cy="347472"/>
          </a:xfrm>
          <a:prstGeom prst="rect">
            <a:avLst/>
          </a:prstGeom>
          <a:solidFill>
            <a:srgbClr val="102A43"/>
          </a:solidFill>
          <a:ln w="8890">
            <a:solidFill>
              <a:srgbClr val="102A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99232" y="1303020"/>
            <a:ext cx="2578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D8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Intel PCS  →  PCCS cache  →  signed collateral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846320" y="1572768"/>
            <a:ext cx="0" cy="237744"/>
          </a:xfrm>
          <a:prstGeom prst="line">
            <a:avLst/>
          </a:prstGeom>
          <a:noFill/>
          <a:ln w="15240">
            <a:solidFill>
              <a:srgbClr val="0E7490"/>
            </a:solidFill>
            <a:prstDash val="dash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788920" y="15819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D8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PCCS는 authority가 아니라 cache / transport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194560" cy="2057400"/>
          </a:xfrm>
          <a:prstGeom prst="rect">
            <a:avLst/>
          </a:prstGeom>
          <a:solidFill>
            <a:srgbClr val="12334A"/>
          </a:solidFill>
          <a:ln w="8890">
            <a:solidFill>
              <a:srgbClr val="123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048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230428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" y="2688336"/>
            <a:ext cx="1901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 Quote + canonical key bytes + bound request context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154680" y="1810512"/>
            <a:ext cx="2423160" cy="2331720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0984" y="19385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00984" y="2194560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00984" y="2578608"/>
            <a:ext cx="21305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Quote·collateral 평가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 / D / E 재계산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Result 생성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1810512"/>
            <a:ext cx="2423160" cy="2331720"/>
          </a:xfrm>
          <a:prstGeom prst="rect">
            <a:avLst/>
          </a:prstGeom>
          <a:solidFill>
            <a:srgbClr val="175CD3"/>
          </a:solidFill>
          <a:ln w="8890">
            <a:solidFill>
              <a:srgbClr val="175C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19385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84264" y="2194560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 / KMS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84264" y="2578608"/>
            <a:ext cx="21305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 + time + E/K 확인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PoP 확인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별도 release policy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61488" y="2944368"/>
            <a:ext cx="384048" cy="0"/>
          </a:xfrm>
          <a:prstGeom prst="line">
            <a:avLst/>
          </a:prstGeom>
          <a:noFill/>
          <a:ln w="27940">
            <a:solidFill>
              <a:srgbClr val="80CFE5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542032" y="263347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CEA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+ context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96128" y="2944368"/>
            <a:ext cx="932688" cy="0"/>
          </a:xfrm>
          <a:prstGeom prst="line">
            <a:avLst/>
          </a:prstGeom>
          <a:noFill/>
          <a:ln w="33020">
            <a:solidFill>
              <a:srgbClr val="75C1F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532120" y="263347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D8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Result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64040" y="2057400"/>
            <a:ext cx="2057400" cy="749808"/>
          </a:xfrm>
          <a:prstGeom prst="rect">
            <a:avLst/>
          </a:prstGeom>
          <a:solidFill>
            <a:srgbClr val="15803D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2402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ALLOW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46920" y="252374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F5E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one-time secret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464040" y="3200400"/>
            <a:ext cx="2057400" cy="749808"/>
          </a:xfrm>
          <a:prstGeom prst="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33832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 KEY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555480" y="3666744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E1D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deny · replay · expiry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979408" y="2578608"/>
            <a:ext cx="475488" cy="-146304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979408" y="3383280"/>
            <a:ext cx="475488" cy="182880"/>
          </a:xfrm>
          <a:prstGeom prst="line">
            <a:avLst/>
          </a:prstGeom>
          <a:noFill/>
          <a:ln w="25400">
            <a:solidFill>
              <a:srgbClr val="B4231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8640" y="4663440"/>
            <a:ext cx="5321808" cy="1078992"/>
          </a:xfrm>
          <a:prstGeom prst="rect">
            <a:avLst/>
          </a:prstGeom>
          <a:solidFill>
            <a:srgbClr val="0B3140"/>
          </a:solidFill>
          <a:ln w="8890">
            <a:solidFill>
              <a:srgbClr val="0B31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4901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4E9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경로가 증명하는 것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6384" y="5202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reported TD state + request/key binding을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조직 policy로 평가할 수 있다.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53328" y="4663440"/>
            <a:ext cx="5468112" cy="1078992"/>
          </a:xfrm>
          <a:prstGeom prst="rect">
            <a:avLst/>
          </a:prstGeom>
          <a:solidFill>
            <a:srgbClr val="3B1C27"/>
          </a:solidFill>
          <a:ln w="8890">
            <a:solidFill>
              <a:srgbClr val="3B1C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490118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1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경로만으로는 증명하지 않는 것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91072" y="525780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code correctness · container identity · future safety · availability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RFC 9334; Intel SGX Data Center Attestation Primitives.  Decision model from passed Intel-rats Point.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400800" y="6473952"/>
            <a:ext cx="5257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Intel-rats는 교육용 lens이며 배포형 Quote verifier가 아니다.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Result는 어떻게 만들어지는가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actor는 한 번만 놓고, 각 화살표에는 하나의 artifact/message만 둔다.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0352" y="1298448"/>
            <a:ext cx="1874520" cy="594360"/>
          </a:xfrm>
          <a:prstGeom prst="rect">
            <a:avLst/>
          </a:prstGeom>
          <a:solidFill>
            <a:srgbClr val="175CD3"/>
          </a:solidFill>
          <a:ln w="8890">
            <a:solidFill>
              <a:srgbClr val="175C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4447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 / KMS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0352" y="1673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release owner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67612" y="1920240"/>
            <a:ext cx="0" cy="3657600"/>
          </a:xfrm>
          <a:prstGeom prst="line">
            <a:avLst/>
          </a:prstGeom>
          <a:noFill/>
          <a:ln w="8890">
            <a:solidFill>
              <a:srgbClr val="B7C8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1298448"/>
            <a:ext cx="1874520" cy="594360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4447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88920" y="1673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appraisal owner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26180" y="1920240"/>
            <a:ext cx="0" cy="3657600"/>
          </a:xfrm>
          <a:prstGeom prst="line">
            <a:avLst/>
          </a:prstGeom>
          <a:noFill/>
          <a:ln w="8890">
            <a:solidFill>
              <a:srgbClr val="B7C8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47488" y="1298448"/>
            <a:ext cx="1874520" cy="594360"/>
          </a:xfrm>
          <a:prstGeom prst="rect">
            <a:avLst/>
          </a:prstGeom>
          <a:solidFill>
            <a:srgbClr val="315B86"/>
          </a:solidFill>
          <a:ln w="8890">
            <a:solidFill>
              <a:srgbClr val="315B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14447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47488" y="1673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attester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84748" y="1920240"/>
            <a:ext cx="0" cy="3657600"/>
          </a:xfrm>
          <a:prstGeom prst="line">
            <a:avLst/>
          </a:prstGeom>
          <a:noFill/>
          <a:ln w="8890">
            <a:solidFill>
              <a:srgbClr val="B7C8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06056" y="1298448"/>
            <a:ext cx="1874520" cy="594360"/>
          </a:xfrm>
          <a:prstGeom prst="rect">
            <a:avLst/>
          </a:prstGeom>
          <a:solidFill>
            <a:srgbClr val="64748B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06056" y="14447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QGS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06056" y="1673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transport only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43316" y="1920240"/>
            <a:ext cx="0" cy="3657600"/>
          </a:xfrm>
          <a:prstGeom prst="line">
            <a:avLst/>
          </a:prstGeom>
          <a:noFill/>
          <a:ln w="8890">
            <a:solidFill>
              <a:srgbClr val="B7C8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64624" y="1298448"/>
            <a:ext cx="1874520" cy="594360"/>
          </a:xfrm>
          <a:prstGeom prst="rect">
            <a:avLst/>
          </a:prstGeom>
          <a:solidFill>
            <a:srgbClr val="7C3AED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64624" y="14447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TDQE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64624" y="1673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signer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501884" y="1920240"/>
            <a:ext cx="0" cy="3657600"/>
          </a:xfrm>
          <a:prstGeom prst="line">
            <a:avLst/>
          </a:prstGeom>
          <a:noFill/>
          <a:ln w="8890">
            <a:solidFill>
              <a:srgbClr val="B7C8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0116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 Bind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63040" y="2286000"/>
            <a:ext cx="2267712" cy="0"/>
          </a:xfrm>
          <a:prstGeom prst="line">
            <a:avLst/>
          </a:prstGeom>
          <a:noFill/>
          <a:ln w="22860">
            <a:solidFill>
              <a:srgbClr val="175CD3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600200" y="20665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5CD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 ID + subject + audience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30752" y="2587752"/>
            <a:ext cx="-2267712" cy="0"/>
          </a:xfrm>
          <a:prstGeom prst="line">
            <a:avLst/>
          </a:prstGeom>
          <a:noFill/>
          <a:ln w="2286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572768" y="236829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nonce (Verifier retains context)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463040" y="2889504"/>
            <a:ext cx="4526280" cy="0"/>
          </a:xfrm>
          <a:prstGeom prst="line">
            <a:avLst/>
          </a:prstGeom>
          <a:noFill/>
          <a:ln w="22860">
            <a:solidFill>
              <a:srgbClr val="175CD3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993392" y="267004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5CD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 forwards nonce + bound request context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0352" y="31546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 Quote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3456432"/>
            <a:ext cx="2258568" cy="0"/>
          </a:xfrm>
          <a:prstGeom prst="line">
            <a:avLst/>
          </a:prstGeom>
          <a:noFill/>
          <a:ln w="22860">
            <a:solidFill>
              <a:srgbClr val="315B86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327648" y="32369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5B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TDREPORT: D/K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247888" y="3767328"/>
            <a:ext cx="2258568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8321040" y="354787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same-platform report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506456" y="4078224"/>
            <a:ext cx="-2258568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8458200" y="3858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TDQE-signed Quote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247888" y="4389120"/>
            <a:ext cx="-2258568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144768" y="416966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returns through guest path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89320" y="4681728"/>
            <a:ext cx="-4526280" cy="0"/>
          </a:xfrm>
          <a:prstGeom prst="line">
            <a:avLst/>
          </a:prstGeom>
          <a:noFill/>
          <a:ln w="22860">
            <a:solidFill>
              <a:srgbClr val="315B86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783080" y="44622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5B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exact Quote + canonical key bytes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463040" y="4974336"/>
            <a:ext cx="2267712" cy="0"/>
          </a:xfrm>
          <a:prstGeom prst="line">
            <a:avLst/>
          </a:prstGeom>
          <a:noFill/>
          <a:ln w="2286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1572768" y="475488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 + key + identical context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0352" y="51846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 Appraise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818120" y="5001768"/>
            <a:ext cx="3611880" cy="356616"/>
          </a:xfrm>
          <a:prstGeom prst="rect">
            <a:avLst/>
          </a:prstGeom>
          <a:solidFill>
            <a:srgbClr val="E9F4FB"/>
          </a:solidFill>
          <a:ln w="8890">
            <a:solidFill>
              <a:srgbClr val="E9F4F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5111496"/>
            <a:ext cx="3310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Collateral side path: Intel PCS → PCCS → Verifier validates signature / status / freshness</a:t>
            </a:r>
            <a:endParaRPr lang="en-US" sz="790" dirty="0"/>
          </a:p>
        </p:txBody>
      </p:sp>
      <p:sp>
        <p:nvSpPr>
          <p:cNvPr id="47" name="Shape 45"/>
          <p:cNvSpPr/>
          <p:nvPr/>
        </p:nvSpPr>
        <p:spPr>
          <a:xfrm>
            <a:off x="3730752" y="5422392"/>
            <a:ext cx="-2267712" cy="0"/>
          </a:xfrm>
          <a:prstGeom prst="line">
            <a:avLst/>
          </a:prstGeom>
          <a:noFill/>
          <a:ln w="2921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1499616" y="519379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Result: verdict + policy version + E + allow-only K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463040" y="5769864"/>
            <a:ext cx="4526280" cy="0"/>
          </a:xfrm>
          <a:prstGeom prst="line">
            <a:avLst/>
          </a:prstGeom>
          <a:noFill/>
          <a:ln w="2286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1874520" y="55412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PoP challenge / response → secret only on same approved K channel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555480" y="5513832"/>
            <a:ext cx="1874520" cy="457200"/>
          </a:xfrm>
          <a:prstGeom prst="rect">
            <a:avLst/>
          </a:prstGeom>
          <a:solidFill>
            <a:srgbClr val="FFF0EF"/>
          </a:solidFill>
          <a:ln w="8890">
            <a:solidFill>
              <a:srgbClr val="FFF0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83496" y="5669280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DENY / REPLAY / EXPIRY → NO KEY</a:t>
            </a:r>
            <a:endParaRPr lang="en-US" sz="840" dirty="0"/>
          </a:p>
        </p:txBody>
      </p:sp>
      <p:sp>
        <p:nvSpPr>
          <p:cNvPr id="53" name="Text 51"/>
          <p:cNvSpPr/>
          <p:nvPr/>
        </p:nvSpPr>
        <p:spPr>
          <a:xfrm>
            <a:off x="502920" y="6473952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Main sequence: passed Intel-rats Point C-004/C-005/C-006.  PCCS is a collateral cache, not the signing authority.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400800" y="6473952"/>
            <a:ext cx="5257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Intel-rats는 교육용 lens이며 배포형 Quote verifier가 아니다.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Bitboom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 TDX 원격 증명 — 결정 모델과 sequence</dc:title>
  <dc:subject>Decision-first technical briefing</dc:subject>
  <dc:creator>Bitboom</dc:creator>
  <cp:lastModifiedBy>Bitboom</cp:lastModifiedBy>
  <cp:revision>1</cp:revision>
  <dcterms:created xsi:type="dcterms:W3CDTF">2026-07-18T03:55:42Z</dcterms:created>
  <dcterms:modified xsi:type="dcterms:W3CDTF">2026-07-18T03:55:42Z</dcterms:modified>
</cp:coreProperties>
</file>