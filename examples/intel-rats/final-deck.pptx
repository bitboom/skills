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ce1442eb1145c1" /><Relationship Type="http://schemas.openxmlformats.org/officeDocument/2006/relationships/extended-properties" Target="/docProps/app.xml" Id="Rb6c62ac7945b4ee2" /><Relationship Type="http://schemas.openxmlformats.org/officeDocument/2006/relationships/officeDocument" Target="/ppt/presentation.xml" Id="Rd30d156de4d44c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036924deb04045"/>
  </p:sldMasterIdLst>
  <p:notesMasterIdLst>
    <p:notesMasterId xmlns:r="http://schemas.openxmlformats.org/officeDocument/2006/relationships" r:id="Re74a7d7a8de64cf3"/>
  </p:notesMasterIdLst>
  <p:sldIdLst>
    <p:sldId xmlns:r="http://schemas.openxmlformats.org/officeDocument/2006/relationships" id="256" r:id="Rad02815755a747d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91654cc6204ba7" /><Relationship Type="http://schemas.openxmlformats.org/officeDocument/2006/relationships/slideMaster" Target="/ppt/slideMasters/slideMaster1.xml" Id="Rba036924deb04045" /><Relationship Type="http://schemas.openxmlformats.org/officeDocument/2006/relationships/notesMaster" Target="/ppt/notesMasters/notesMaster1.xml" Id="Re74a7d7a8de64cf3" /><Relationship Type="http://schemas.openxmlformats.org/officeDocument/2006/relationships/presProps" Target="/ppt/presProps.xml" Id="R448cbc1dec934c49" /><Relationship Type="http://schemas.openxmlformats.org/officeDocument/2006/relationships/tableStyles" Target="/ppt/tableStyles.xml" Id="Rce1f541007ab4b0b" /><Relationship Type="http://schemas.openxmlformats.org/officeDocument/2006/relationships/slide" Target="/ppt/slides/slide1.xml" Id="Rad02815755a747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67a8ad5cd545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9958f2f59344a1" /><Relationship Type="http://schemas.openxmlformats.org/officeDocument/2006/relationships/notesMaster" Target="/ppt/notesMasters/notesMaster1.xml" Id="R1a65b922d88343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0c666266f4d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8fee358d9a4c2b" /><Relationship Type="http://schemas.openxmlformats.org/officeDocument/2006/relationships/slideLayout" Target="/ppt/slideLayouts/slideLayout1.xml" Id="Rc06e889f7af94d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6e889f7af94d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18beb71a3462a" /><Relationship Type="http://schemas.openxmlformats.org/officeDocument/2006/relationships/notesSlide" Target="/ppt/notesSlides/notesSlide1.xml" Id="Rdcc90d33cc864d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line">
            <a:extLst xmlns:a="http://schemas.openxmlformats.org/drawingml/2006/main">
              <a:ext uri="{FF2B5EF4-FFF2-40B4-BE49-F238E27FC236}">
                <a16:creationId xmlns:a16="http://schemas.microsoft.com/office/drawing/2014/main" id="{3B9B8A9F-AFC7-489B-A53B-62093E76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</a:defRPr>
            </a:pPr>
            <a:r>
              <a:rPr sz="3600" b="1">
                <a:solidFill>
                  <a:srgbClr val="0B1220"/>
                </a:solidFill>
              </a:rPr>
              <a:t>Intel TDX 원격 증명은 검증된 VM에만 비밀을 공개한다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4DC428-1DCC-495A-A190-6FE2C7B4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Quote가 유효해도 자동 허용은 아니다 — 서명된 Result와 별도 release policy가 최종 행동을 결정한다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65986A06-FDA8-4907-8C52-0355F4E0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4" name="boundary-collateral">
            <a:extLst xmlns:a="http://schemas.openxmlformats.org/drawingml/2006/main">
              <a:ext uri="{FF2B5EF4-FFF2-40B4-BE49-F238E27FC236}">
                <a16:creationId xmlns:a16="http://schemas.microsoft.com/office/drawing/2014/main" id="{B1526A5C-FE85-47AF-907E-4B0ACFA0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1430">
            <a:solidFill>
              <a:srgbClr val="B8BCC4"/>
            </a:solidFill>
            <a:prstDash val="dash"/>
          </a:ln>
        </p:spPr>
      </p:sp>
      <p:sp>
        <p:nvSpPr>
          <p:cNvPr id="5" name="collateral-label">
            <a:extLst xmlns:a="http://schemas.openxmlformats.org/drawingml/2006/main">
              <a:ext uri="{FF2B5EF4-FFF2-40B4-BE49-F238E27FC236}">
                <a16:creationId xmlns:a16="http://schemas.microsoft.com/office/drawing/2014/main" id="{4A9F0174-87BA-4077-9D29-681B9BF2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06D"/>
                </a:solidFill>
              </a:defRPr>
            </a:pPr>
            <a:r>
              <a:rPr sz="1500" b="1">
                <a:solidFill>
                  <a:srgbClr val="52606D"/>
                </a:solidFill>
              </a:rPr>
              <a:t>COLLATERAL</a:t>
            </a:r>
          </a:p>
        </p:txBody>
      </p:sp>
      <p:sp>
        <p:nvSpPr>
          <p:cNvPr id="6" name="node-pcs">
            <a:extLst xmlns:a="http://schemas.openxmlformats.org/drawingml/2006/main">
              <a:ext uri="{FF2B5EF4-FFF2-40B4-BE49-F238E27FC236}">
                <a16:creationId xmlns:a16="http://schemas.microsoft.com/office/drawing/2014/main" id="{3F839F66-D102-40C1-9CFE-E41F6B2B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371600"/>
            <a:ext cx="1428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1220"/>
            </a:solidFill>
            <a:prstDash val="solid"/>
          </a:ln>
        </p:spPr>
      </p:sp>
      <p:sp>
        <p:nvSpPr>
          <p:cNvPr id="7" name="node-pcs-title">
            <a:extLst xmlns:a="http://schemas.openxmlformats.org/drawingml/2006/main">
              <a:ext uri="{FF2B5EF4-FFF2-40B4-BE49-F238E27FC236}">
                <a16:creationId xmlns:a16="http://schemas.microsoft.com/office/drawing/2014/main" id="{95E95E85-13F9-4104-B9F8-10A40A28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66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Intel PCS</a:t>
            </a:r>
          </a:p>
        </p:txBody>
      </p:sp>
      <p:sp>
        <p:nvSpPr>
          <p:cNvPr id="8" name="node-pcs-body">
            <a:extLst xmlns:a="http://schemas.openxmlformats.org/drawingml/2006/main">
              <a:ext uri="{FF2B5EF4-FFF2-40B4-BE49-F238E27FC236}">
                <a16:creationId xmlns:a16="http://schemas.microsoft.com/office/drawing/2014/main" id="{E27F4BFB-E193-46A2-A949-6310EF2E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38300"/>
            <a:ext cx="1200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77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서명 원천</a:t>
            </a:r>
          </a:p>
        </p:txBody>
      </p:sp>
      <p:sp>
        <p:nvSpPr>
          <p:cNvPr id="9" name="node-pccs">
            <a:extLst xmlns:a="http://schemas.openxmlformats.org/drawingml/2006/main">
              <a:ext uri="{FF2B5EF4-FFF2-40B4-BE49-F238E27FC236}">
                <a16:creationId xmlns:a16="http://schemas.microsoft.com/office/drawing/2014/main" id="{24BA5175-AA77-461F-9A51-5337B5F3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371600"/>
            <a:ext cx="1428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1220"/>
            </a:solidFill>
            <a:prstDash val="solid"/>
          </a:ln>
        </p:spPr>
      </p:sp>
      <p:sp>
        <p:nvSpPr>
          <p:cNvPr id="10" name="node-pccs-title">
            <a:extLst xmlns:a="http://schemas.openxmlformats.org/drawingml/2006/main">
              <a:ext uri="{FF2B5EF4-FFF2-40B4-BE49-F238E27FC236}">
                <a16:creationId xmlns:a16="http://schemas.microsoft.com/office/drawing/2014/main" id="{AC5AE41E-317B-443A-A571-EDA6EB7A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4668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PCCS</a:t>
            </a:r>
          </a:p>
        </p:txBody>
      </p:sp>
      <p:sp>
        <p:nvSpPr>
          <p:cNvPr id="11" name="node-pccs-body">
            <a:extLst xmlns:a="http://schemas.openxmlformats.org/drawingml/2006/main">
              <a:ext uri="{FF2B5EF4-FFF2-40B4-BE49-F238E27FC236}">
                <a16:creationId xmlns:a16="http://schemas.microsoft.com/office/drawing/2014/main" id="{205AAF89-6598-44D4-A3D7-7601AC01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638300"/>
            <a:ext cx="1200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77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캐시·전달</a:t>
            </a:r>
          </a:p>
        </p:txBody>
      </p:sp>
      <p:cxnSp>
        <p:nvCxnSpPr>
          <p:cNvPr id="102" name="edge-pcs-pccs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81375" y="16097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3" name="collateral-bytes">
            <a:extLst xmlns:a="http://schemas.openxmlformats.org/drawingml/2006/main">
              <a:ext uri="{FF2B5EF4-FFF2-40B4-BE49-F238E27FC236}">
                <a16:creationId xmlns:a16="http://schemas.microsoft.com/office/drawing/2014/main" id="{FC1BE2DB-F6A2-4836-858A-362204E1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457325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52606D"/>
                </a:solidFill>
              </a:defRPr>
            </a:pPr>
            <a:r>
              <a:rPr sz="1538" b="0">
                <a:solidFill>
                  <a:srgbClr val="52606D"/>
                </a:solidFill>
              </a:rPr>
              <a:t>PCK · CRL · QE Identity · TCB Info</a:t>
            </a:r>
          </a:p>
        </p:txBody>
      </p:sp>
      <p:sp>
        <p:nvSpPr>
          <p:cNvPr id="14" name="stage-1">
            <a:extLst xmlns:a="http://schemas.openxmlformats.org/drawingml/2006/main">
              <a:ext uri="{FF2B5EF4-FFF2-40B4-BE49-F238E27FC236}">
                <a16:creationId xmlns:a16="http://schemas.microsoft.com/office/drawing/2014/main" id="{FC4EF7FE-A5FD-43FA-AB52-D338BD44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97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1  요청 결합</a:t>
            </a:r>
          </a:p>
        </p:txBody>
      </p:sp>
      <p:sp>
        <p:nvSpPr>
          <p:cNvPr id="15" name="stage-2">
            <a:extLst xmlns:a="http://schemas.openxmlformats.org/drawingml/2006/main">
              <a:ext uri="{FF2B5EF4-FFF2-40B4-BE49-F238E27FC236}">
                <a16:creationId xmlns:a16="http://schemas.microsoft.com/office/drawing/2014/main" id="{26FF286C-0ED4-42BA-BB0A-3CAC199B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097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2  Evidence 생성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06FDCB51-7AB6-4F42-B2EF-3A87A3F7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97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3  검증·평가</a:t>
            </a:r>
          </a:p>
        </p:txBody>
      </p:sp>
      <p:sp>
        <p:nvSpPr>
          <p:cNvPr id="17" name="stage-4">
            <a:extLst xmlns:a="http://schemas.openxmlformats.org/drawingml/2006/main">
              <a:ext uri="{FF2B5EF4-FFF2-40B4-BE49-F238E27FC236}">
                <a16:creationId xmlns:a16="http://schemas.microsoft.com/office/drawing/2014/main" id="{6016F664-C6FC-4F1E-AB50-319CA7F2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4  공개 결정</a:t>
            </a:r>
          </a:p>
        </p:txBody>
      </p:sp>
      <p:sp>
        <p:nvSpPr>
          <p:cNvPr id="18" name="divider-258">
            <a:extLst xmlns:a="http://schemas.openxmlformats.org/drawingml/2006/main">
              <a:ext uri="{FF2B5EF4-FFF2-40B4-BE49-F238E27FC236}">
                <a16:creationId xmlns:a16="http://schemas.microsoft.com/office/drawing/2014/main" id="{BC42FE87-94CA-4FC6-B276-86534640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38350"/>
            <a:ext cx="14288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divider-568">
            <a:extLst xmlns:a="http://schemas.openxmlformats.org/drawingml/2006/main">
              <a:ext uri="{FF2B5EF4-FFF2-40B4-BE49-F238E27FC236}">
                <a16:creationId xmlns:a16="http://schemas.microsoft.com/office/drawing/2014/main" id="{FA3EDC72-C24E-4522-9CEC-8A727E44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38350"/>
            <a:ext cx="14288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divider-858">
            <a:extLst xmlns:a="http://schemas.openxmlformats.org/drawingml/2006/main">
              <a:ext uri="{FF2B5EF4-FFF2-40B4-BE49-F238E27FC236}">
                <a16:creationId xmlns:a16="http://schemas.microsoft.com/office/drawing/2014/main" id="{BFDB5F27-341F-4C31-95E8-AA9A6DDC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14288" cy="200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node-rp-request">
            <a:extLst xmlns:a="http://schemas.openxmlformats.org/drawingml/2006/main">
              <a:ext uri="{FF2B5EF4-FFF2-40B4-BE49-F238E27FC236}">
                <a16:creationId xmlns:a16="http://schemas.microsoft.com/office/drawing/2014/main" id="{DE3B516F-66C5-4323-8EC3-E4576EE6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933450" cy="10668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1220"/>
            </a:solidFill>
            <a:prstDash val="solid"/>
          </a:ln>
        </p:spPr>
      </p:sp>
      <p:sp>
        <p:nvSpPr>
          <p:cNvPr id="22" name="node-rp-request-title">
            <a:extLst xmlns:a="http://schemas.openxmlformats.org/drawingml/2006/main">
              <a:ext uri="{FF2B5EF4-FFF2-40B4-BE49-F238E27FC236}">
                <a16:creationId xmlns:a16="http://schemas.microsoft.com/office/drawing/2014/main" id="{970B7780-FD33-40F0-BF0A-DEF7580B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704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00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RP / KMS</a:t>
            </a:r>
          </a:p>
        </p:txBody>
      </p:sp>
      <p:sp>
        <p:nvSpPr>
          <p:cNvPr id="23" name="node-rp-request-body">
            <a:extLst xmlns:a="http://schemas.openxmlformats.org/drawingml/2006/main">
              <a:ext uri="{FF2B5EF4-FFF2-40B4-BE49-F238E27FC236}">
                <a16:creationId xmlns:a16="http://schemas.microsoft.com/office/drawing/2014/main" id="{51C6EDE0-08EC-4C44-8063-F760F8EF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24175"/>
            <a:ext cx="70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2606D"/>
                </a:solidFill>
              </a:defRPr>
            </a:pPr>
            <a:r>
              <a:rPr sz="1238" b="0">
                <a:solidFill>
                  <a:srgbClr val="52606D"/>
                </a:solidFill>
              </a:rPr>
              <a:t>요청 ID</a:t>
            </a:r>
          </a:p>
          <a:p xmlns:a="http://schemas.openxmlformats.org/drawingml/2006/main">
            <a:pPr algn="l">
              <a:defRPr sz="1238" b="0">
                <a:solidFill>
                  <a:srgbClr val="52606D"/>
                </a:solidFill>
              </a:defRPr>
            </a:pPr>
            <a:r>
              <a:rPr sz="1238" b="0">
                <a:solidFill>
                  <a:srgbClr val="52606D"/>
                </a:solidFill>
              </a:rPr>
              <a:t>주체·대상</a:t>
            </a:r>
          </a:p>
        </p:txBody>
      </p:sp>
      <p:sp>
        <p:nvSpPr>
          <p:cNvPr id="24" name="node-verifier-request">
            <a:extLst xmlns:a="http://schemas.openxmlformats.org/drawingml/2006/main">
              <a:ext uri="{FF2B5EF4-FFF2-40B4-BE49-F238E27FC236}">
                <a16:creationId xmlns:a16="http://schemas.microsoft.com/office/drawing/2014/main" id="{3B5D7B72-FD58-4C44-AD2F-0D0EBE9E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14600"/>
            <a:ext cx="933450" cy="10668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F4FC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25" name="node-verifier-request-title">
            <a:extLst xmlns:a="http://schemas.openxmlformats.org/drawingml/2006/main">
              <a:ext uri="{FF2B5EF4-FFF2-40B4-BE49-F238E27FC236}">
                <a16:creationId xmlns:a16="http://schemas.microsoft.com/office/drawing/2014/main" id="{09847934-EF46-4D5D-B19B-08695296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09850"/>
            <a:ext cx="704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B1220"/>
                </a:solidFill>
              </a:defRPr>
            </a:pPr>
            <a:r>
              <a:rPr sz="1463" b="1">
                <a:solidFill>
                  <a:srgbClr val="0B1220"/>
                </a:solidFill>
              </a:rPr>
              <a:t>Verifier</a:t>
            </a:r>
          </a:p>
        </p:txBody>
      </p:sp>
      <p:sp>
        <p:nvSpPr>
          <p:cNvPr id="26" name="node-verifier-request-body">
            <a:extLst xmlns:a="http://schemas.openxmlformats.org/drawingml/2006/main">
              <a:ext uri="{FF2B5EF4-FFF2-40B4-BE49-F238E27FC236}">
                <a16:creationId xmlns:a16="http://schemas.microsoft.com/office/drawing/2014/main" id="{115F12C2-9EED-40AA-89FB-794E0C62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24175"/>
            <a:ext cx="70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2606D"/>
                </a:solidFill>
              </a:defRPr>
            </a:pPr>
            <a:r>
              <a:rPr sz="1238" b="0">
                <a:solidFill>
                  <a:srgbClr val="52606D"/>
                </a:solidFill>
              </a:rPr>
              <a:t>nonce</a:t>
            </a:r>
          </a:p>
          <a:p xmlns:a="http://schemas.openxmlformats.org/drawingml/2006/main">
            <a:pPr algn="l">
              <a:defRPr sz="1238" b="0">
                <a:solidFill>
                  <a:srgbClr val="52606D"/>
                </a:solidFill>
              </a:defRPr>
            </a:pPr>
            <a:r>
              <a:rPr sz="1238" b="0">
                <a:solidFill>
                  <a:srgbClr val="52606D"/>
                </a:solidFill>
              </a:rPr>
              <a:t>발급·보관</a:t>
            </a:r>
          </a:p>
          <a:p xmlns:a="http://schemas.openxmlformats.org/drawingml/2006/main">
            <a:pPr algn="l">
              <a:defRPr sz="1238" b="0">
                <a:solidFill>
                  <a:srgbClr val="52606D"/>
                </a:solidFill>
              </a:defRPr>
            </a:pPr>
            <a:r>
              <a:rPr sz="1238" b="0">
                <a:solidFill>
                  <a:srgbClr val="52606D"/>
                </a:solidFill>
              </a:rPr>
              <a:t>1회 상태</a:t>
            </a:r>
          </a:p>
        </p:txBody>
      </p:sp>
      <p:sp>
        <p:nvSpPr>
          <p:cNvPr id="27" name="boundary-infrastructure">
            <a:extLst xmlns:a="http://schemas.openxmlformats.org/drawingml/2006/main">
              <a:ext uri="{FF2B5EF4-FFF2-40B4-BE49-F238E27FC236}">
                <a16:creationId xmlns:a16="http://schemas.microsoft.com/office/drawing/2014/main" id="{CB473E4F-8F94-4D67-8C42-D89FC165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28875"/>
            <a:ext cx="26670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BCC4"/>
            </a:solidFill>
            <a:prstDash val="dash"/>
          </a:ln>
        </p:spPr>
      </p:sp>
      <p:sp>
        <p:nvSpPr>
          <p:cNvPr id="28" name="infra-label">
            <a:extLst xmlns:a="http://schemas.openxmlformats.org/drawingml/2006/main">
              <a:ext uri="{FF2B5EF4-FFF2-40B4-BE49-F238E27FC236}">
                <a16:creationId xmlns:a16="http://schemas.microsoft.com/office/drawing/2014/main" id="{522010CD-4262-4B76-BE7C-578E0900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29025"/>
            <a:ext cx="2457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414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2606D"/>
                </a:solidFill>
              </a:defRPr>
            </a:pPr>
            <a:r>
              <a:rPr sz="1388" b="0">
                <a:solidFill>
                  <a:srgbClr val="52606D"/>
                </a:solidFill>
              </a:rPr>
              <a:t>호스트 경로는 변조·지연·재전송 가능</a:t>
            </a:r>
          </a:p>
        </p:txBody>
      </p:sp>
      <p:sp>
        <p:nvSpPr>
          <p:cNvPr id="29" name="node-td">
            <a:extLst xmlns:a="http://schemas.openxmlformats.org/drawingml/2006/main">
              <a:ext uri="{FF2B5EF4-FFF2-40B4-BE49-F238E27FC236}">
                <a16:creationId xmlns:a16="http://schemas.microsoft.com/office/drawing/2014/main" id="{FE13A273-A2CB-4BEB-B2A9-F86906B3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09850"/>
            <a:ext cx="781050" cy="9715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4FC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30" name="node-td-title">
            <a:extLst xmlns:a="http://schemas.openxmlformats.org/drawingml/2006/main">
              <a:ext uri="{FF2B5EF4-FFF2-40B4-BE49-F238E27FC236}">
                <a16:creationId xmlns:a16="http://schemas.microsoft.com/office/drawing/2014/main" id="{89782517-34C3-4E9E-8A9B-E1BC67C0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051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TD</a:t>
            </a:r>
          </a:p>
        </p:txBody>
      </p:sp>
      <p:sp>
        <p:nvSpPr>
          <p:cNvPr id="31" name="node-td-body">
            <a:extLst xmlns:a="http://schemas.openxmlformats.org/drawingml/2006/main">
              <a:ext uri="{FF2B5EF4-FFF2-40B4-BE49-F238E27FC236}">
                <a16:creationId xmlns:a16="http://schemas.microsoft.com/office/drawing/2014/main" id="{D6C1C6ED-20B0-455C-BC4C-4EDDC2D1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972"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2606D"/>
                </a:solidFill>
              </a:defRPr>
            </a:pPr>
            <a:r>
              <a:rPr sz="1313" b="0">
                <a:solidFill>
                  <a:srgbClr val="52606D"/>
                </a:solidFill>
              </a:rPr>
              <a:t>임시 키</a:t>
            </a:r>
          </a:p>
          <a:p xmlns:a="http://schemas.openxmlformats.org/drawingml/2006/main">
            <a:pPr algn="l">
              <a:defRPr sz="1313" b="0">
                <a:solidFill>
                  <a:srgbClr val="52606D"/>
                </a:solidFill>
              </a:defRPr>
            </a:pPr>
            <a:r>
              <a:rPr sz="1313" b="0">
                <a:solidFill>
                  <a:srgbClr val="52606D"/>
                </a:solidFill>
              </a:rPr>
              <a:t>K·D</a:t>
            </a:r>
          </a:p>
          <a:p xmlns:a="http://schemas.openxmlformats.org/drawingml/2006/main">
            <a:pPr algn="l">
              <a:defRPr sz="1313" b="0">
                <a:solidFill>
                  <a:srgbClr val="52606D"/>
                </a:solidFill>
              </a:defRPr>
            </a:pPr>
            <a:r>
              <a:rPr sz="1313" b="0">
                <a:solidFill>
                  <a:srgbClr val="52606D"/>
                </a:solidFill>
              </a:rPr>
              <a:t>TDREPORT</a:t>
            </a:r>
          </a:p>
        </p:txBody>
      </p:sp>
      <p:sp>
        <p:nvSpPr>
          <p:cNvPr id="32" name="node-qgs">
            <a:extLst xmlns:a="http://schemas.openxmlformats.org/drawingml/2006/main">
              <a:ext uri="{FF2B5EF4-FFF2-40B4-BE49-F238E27FC236}">
                <a16:creationId xmlns:a16="http://schemas.microsoft.com/office/drawing/2014/main" id="{FB37B9F2-63D4-4990-BCFF-40BC9CFE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09850"/>
            <a:ext cx="742950" cy="9715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33" name="node-qgs-title">
            <a:extLst xmlns:a="http://schemas.openxmlformats.org/drawingml/2006/main">
              <a:ext uri="{FF2B5EF4-FFF2-40B4-BE49-F238E27FC236}">
                <a16:creationId xmlns:a16="http://schemas.microsoft.com/office/drawing/2014/main" id="{64B30A92-DA9C-4844-A780-FDBEE6A2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05100"/>
            <a:ext cx="514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QGS</a:t>
            </a:r>
          </a:p>
        </p:txBody>
      </p:sp>
      <p:sp>
        <p:nvSpPr>
          <p:cNvPr id="34" name="node-qgs-body">
            <a:extLst xmlns:a="http://schemas.openxmlformats.org/drawingml/2006/main">
              <a:ext uri="{FF2B5EF4-FFF2-40B4-BE49-F238E27FC236}">
                <a16:creationId xmlns:a16="http://schemas.microsoft.com/office/drawing/2014/main" id="{A165EC37-5EAD-40CF-B610-A5E1EF5E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1942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2606D"/>
                </a:solidFill>
              </a:defRPr>
            </a:pPr>
            <a:r>
              <a:rPr sz="1238" b="0">
                <a:solidFill>
                  <a:srgbClr val="52606D"/>
                </a:solidFill>
              </a:rPr>
              <a:t>운반</a:t>
            </a:r>
          </a:p>
        </p:txBody>
      </p:sp>
      <p:sp>
        <p:nvSpPr>
          <p:cNvPr id="35" name="node-tdqe">
            <a:extLst xmlns:a="http://schemas.openxmlformats.org/drawingml/2006/main">
              <a:ext uri="{FF2B5EF4-FFF2-40B4-BE49-F238E27FC236}">
                <a16:creationId xmlns:a16="http://schemas.microsoft.com/office/drawing/2014/main" id="{04242C03-B38D-4413-8473-C2973CD7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09850"/>
            <a:ext cx="762000" cy="9715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3D8DFF"/>
            </a:solidFill>
            <a:prstDash val="solid"/>
          </a:ln>
        </p:spPr>
      </p:sp>
      <p:sp>
        <p:nvSpPr>
          <p:cNvPr id="36" name="node-tdqe-title">
            <a:extLst xmlns:a="http://schemas.openxmlformats.org/drawingml/2006/main">
              <a:ext uri="{FF2B5EF4-FFF2-40B4-BE49-F238E27FC236}">
                <a16:creationId xmlns:a16="http://schemas.microsoft.com/office/drawing/2014/main" id="{0BD9F698-0A9A-4D6A-9012-DE475B84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05100"/>
            <a:ext cx="533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B1220"/>
                </a:solidFill>
              </a:defRPr>
            </a:pPr>
            <a:r>
              <a:rPr sz="1463" b="1">
                <a:solidFill>
                  <a:srgbClr val="0B1220"/>
                </a:solidFill>
              </a:rPr>
              <a:t>TDQE</a:t>
            </a:r>
          </a:p>
        </p:txBody>
      </p:sp>
      <p:sp>
        <p:nvSpPr>
          <p:cNvPr id="37" name="node-tdqe-body">
            <a:extLst xmlns:a="http://schemas.openxmlformats.org/drawingml/2006/main">
              <a:ext uri="{FF2B5EF4-FFF2-40B4-BE49-F238E27FC236}">
                <a16:creationId xmlns:a16="http://schemas.microsoft.com/office/drawing/2014/main" id="{BFD4507C-2652-4471-A921-0F652CAF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19425"/>
            <a:ext cx="53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2606D"/>
                </a:solidFill>
              </a:defRPr>
            </a:pPr>
            <a:r>
              <a:rPr sz="1238" b="0">
                <a:solidFill>
                  <a:srgbClr val="52606D"/>
                </a:solidFill>
              </a:rPr>
              <a:t>signer</a:t>
            </a:r>
          </a:p>
        </p:txBody>
      </p:sp>
      <p:sp>
        <p:nvSpPr>
          <p:cNvPr id="38" name="boundary-qgs-tdqe">
            <a:extLst xmlns:a="http://schemas.openxmlformats.org/drawingml/2006/main">
              <a:ext uri="{FF2B5EF4-FFF2-40B4-BE49-F238E27FC236}">
                <a16:creationId xmlns:a16="http://schemas.microsoft.com/office/drawing/2014/main" id="{F1B4EBD8-5F30-49BE-AAFA-7F0E7A62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876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D8DFF"/>
            </a:solidFill>
            <a:prstDash val="solid"/>
          </a:ln>
        </p:spPr>
      </p:sp>
      <p:sp>
        <p:nvSpPr>
          <p:cNvPr id="39" name="boundary-appraisal">
            <a:extLst xmlns:a="http://schemas.openxmlformats.org/drawingml/2006/main">
              <a:ext uri="{FF2B5EF4-FFF2-40B4-BE49-F238E27FC236}">
                <a16:creationId xmlns:a16="http://schemas.microsoft.com/office/drawing/2014/main" id="{372989FF-6FC5-4D13-8E6B-CB9A7C15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28875"/>
            <a:ext cx="245745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C"/>
          </a:solidFill>
          <a:ln xmlns:a="http://schemas.openxmlformats.org/drawingml/2006/main" w="13335">
            <a:solidFill>
              <a:srgbClr val="3D8DFF"/>
            </a:solidFill>
            <a:prstDash val="solid"/>
          </a:ln>
        </p:spPr>
      </p:sp>
      <p:sp>
        <p:nvSpPr>
          <p:cNvPr id="40" name="node-verifier">
            <a:extLst xmlns:a="http://schemas.openxmlformats.org/drawingml/2006/main">
              <a:ext uri="{FF2B5EF4-FFF2-40B4-BE49-F238E27FC236}">
                <a16:creationId xmlns:a16="http://schemas.microsoft.com/office/drawing/2014/main" id="{1422FFDF-0942-4098-8009-08590B1D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09850"/>
            <a:ext cx="2076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41" name="node-verifier-title">
            <a:extLst xmlns:a="http://schemas.openxmlformats.org/drawingml/2006/main">
              <a:ext uri="{FF2B5EF4-FFF2-40B4-BE49-F238E27FC236}">
                <a16:creationId xmlns:a16="http://schemas.microsoft.com/office/drawing/2014/main" id="{AF9FE0BF-50C4-4322-A500-5E588F2B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05100"/>
            <a:ext cx="1847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94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Verifier</a:t>
            </a:r>
          </a:p>
        </p:txBody>
      </p:sp>
      <p:sp>
        <p:nvSpPr>
          <p:cNvPr id="42" name="node-verifier-body">
            <a:extLst xmlns:a="http://schemas.openxmlformats.org/drawingml/2006/main">
              <a:ext uri="{FF2B5EF4-FFF2-40B4-BE49-F238E27FC236}">
                <a16:creationId xmlns:a16="http://schemas.microsoft.com/office/drawing/2014/main" id="{E9D89D51-4DEF-4873-B2B3-76062476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19425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274"/>
          </a:bodyPr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52606D"/>
                </a:solidFill>
              </a:defRPr>
            </a:pPr>
            <a:r>
              <a:rPr sz="1538" b="0">
                <a:solidFill>
                  <a:srgbClr val="52606D"/>
                </a:solidFill>
              </a:rPr>
              <a:t>Quote·collateral 검증</a:t>
            </a:r>
          </a:p>
          <a:p xmlns:a="http://schemas.openxmlformats.org/drawingml/2006/main">
            <a:pPr algn="l">
              <a:defRPr sz="1538" b="0">
                <a:solidFill>
                  <a:srgbClr val="52606D"/>
                </a:solidFill>
              </a:defRPr>
            </a:pPr>
            <a:r>
              <a:rPr sz="1538" b="0">
                <a:solidFill>
                  <a:srgbClr val="52606D"/>
                </a:solidFill>
              </a:rPr>
              <a:t>K / D / E 재계산</a:t>
            </a:r>
          </a:p>
          <a:p xmlns:a="http://schemas.openxmlformats.org/drawingml/2006/main">
            <a:pPr algn="l">
              <a:defRPr sz="1538" b="0">
                <a:solidFill>
                  <a:srgbClr val="52606D"/>
                </a:solidFill>
              </a:defRPr>
            </a:pPr>
            <a:r>
              <a:rPr sz="1538" b="0">
                <a:solidFill>
                  <a:srgbClr val="52606D"/>
                </a:solidFill>
              </a:rPr>
              <a:t>측정값 + appraisal policy</a:t>
            </a:r>
          </a:p>
        </p:txBody>
      </p:sp>
      <p:sp>
        <p:nvSpPr>
          <p:cNvPr id="43" name="boundary-result-use">
            <a:extLst xmlns:a="http://schemas.openxmlformats.org/drawingml/2006/main">
              <a:ext uri="{FF2B5EF4-FFF2-40B4-BE49-F238E27FC236}">
                <a16:creationId xmlns:a16="http://schemas.microsoft.com/office/drawing/2014/main" id="{C4B3B679-47BF-4917-A004-20CF096A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28875"/>
            <a:ext cx="33718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B1220"/>
            </a:solidFill>
            <a:prstDash val="solid"/>
          </a:ln>
        </p:spPr>
      </p:sp>
      <p:sp>
        <p:nvSpPr>
          <p:cNvPr id="44" name="node-rp-decision">
            <a:extLst xmlns:a="http://schemas.openxmlformats.org/drawingml/2006/main">
              <a:ext uri="{FF2B5EF4-FFF2-40B4-BE49-F238E27FC236}">
                <a16:creationId xmlns:a16="http://schemas.microsoft.com/office/drawing/2014/main" id="{B10D8445-BEBA-4EF2-B5A8-B1638AA9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9850"/>
            <a:ext cx="13906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1220"/>
            </a:solidFill>
            <a:prstDash val="solid"/>
          </a:ln>
        </p:spPr>
      </p:sp>
      <p:sp>
        <p:nvSpPr>
          <p:cNvPr id="45" name="node-rp-decision-title">
            <a:extLst xmlns:a="http://schemas.openxmlformats.org/drawingml/2006/main">
              <a:ext uri="{FF2B5EF4-FFF2-40B4-BE49-F238E27FC236}">
                <a16:creationId xmlns:a16="http://schemas.microsoft.com/office/drawing/2014/main" id="{4CCCF2B7-A5E7-44D5-9DD4-BCD5BA1F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05100"/>
            <a:ext cx="1162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RP / KMS</a:t>
            </a:r>
          </a:p>
        </p:txBody>
      </p:sp>
      <p:sp>
        <p:nvSpPr>
          <p:cNvPr id="46" name="node-rp-decision-body">
            <a:extLst xmlns:a="http://schemas.openxmlformats.org/drawingml/2006/main">
              <a:ext uri="{FF2B5EF4-FFF2-40B4-BE49-F238E27FC236}">
                <a16:creationId xmlns:a16="http://schemas.microsoft.com/office/drawing/2014/main" id="{A7F640A0-8294-46DF-842B-2259AAED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19425"/>
            <a:ext cx="1162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95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Result·time·E·K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키 소유(PoP)</a:t>
            </a:r>
          </a:p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release policy</a:t>
            </a:r>
          </a:p>
        </p:txBody>
      </p:sp>
      <p:sp>
        <p:nvSpPr>
          <p:cNvPr id="47" name="node-allow">
            <a:extLst xmlns:a="http://schemas.openxmlformats.org/drawingml/2006/main">
              <a:ext uri="{FF2B5EF4-FFF2-40B4-BE49-F238E27FC236}">
                <a16:creationId xmlns:a16="http://schemas.microsoft.com/office/drawing/2014/main" id="{A68B2C08-1D9C-4E3B-8C5B-6DE51FBB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3365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7F1"/>
          </a:solidFill>
          <a:ln xmlns:a="http://schemas.openxmlformats.org/drawingml/2006/main" w="14288">
            <a:solidFill>
              <a:srgbClr val="157A55"/>
            </a:solidFill>
            <a:prstDash val="solid"/>
          </a:ln>
        </p:spPr>
      </p:sp>
      <p:sp>
        <p:nvSpPr>
          <p:cNvPr id="48" name="node-allow-title">
            <a:extLst xmlns:a="http://schemas.openxmlformats.org/drawingml/2006/main">
              <a:ext uri="{FF2B5EF4-FFF2-40B4-BE49-F238E27FC236}">
                <a16:creationId xmlns:a16="http://schemas.microsoft.com/office/drawing/2014/main" id="{9351C4E7-7C37-4324-AAD6-572017C0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289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7A55"/>
                </a:solidFill>
              </a:defRPr>
            </a:pPr>
            <a:r>
              <a:rPr sz="1650" b="1">
                <a:solidFill>
                  <a:srgbClr val="157A55"/>
                </a:solidFill>
              </a:rPr>
              <a:t>✓ ALLOW</a:t>
            </a:r>
          </a:p>
        </p:txBody>
      </p:sp>
      <p:sp>
        <p:nvSpPr>
          <p:cNvPr id="49" name="node-allow-body">
            <a:extLst xmlns:a="http://schemas.openxmlformats.org/drawingml/2006/main">
              <a:ext uri="{FF2B5EF4-FFF2-40B4-BE49-F238E27FC236}">
                <a16:creationId xmlns:a16="http://schemas.microsoft.com/office/drawing/2014/main" id="{4E60B419-7219-42ED-A3DB-473E6FF2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9082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49532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2606D"/>
                </a:solidFill>
              </a:defRPr>
            </a:pPr>
            <a:r>
              <a:rPr sz="1388" b="0">
                <a:solidFill>
                  <a:srgbClr val="52606D"/>
                </a:solidFill>
              </a:rPr>
              <a:t>같은 키 채널</a:t>
            </a:r>
          </a:p>
          <a:p xmlns:a="http://schemas.openxmlformats.org/drawingml/2006/main">
            <a:pPr algn="l">
              <a:defRPr sz="1388" b="0">
                <a:solidFill>
                  <a:srgbClr val="52606D"/>
                </a:solidFill>
              </a:defRPr>
            </a:pPr>
            <a:r>
              <a:rPr sz="1388" b="0">
                <a:solidFill>
                  <a:srgbClr val="52606D"/>
                </a:solidFill>
              </a:rPr>
              <a:t>secret 1회 공개</a:t>
            </a:r>
          </a:p>
        </p:txBody>
      </p:sp>
      <p:sp>
        <p:nvSpPr>
          <p:cNvPr id="50" name="node-deny">
            <a:extLst xmlns:a="http://schemas.openxmlformats.org/drawingml/2006/main">
              <a:ext uri="{FF2B5EF4-FFF2-40B4-BE49-F238E27FC236}">
                <a16:creationId xmlns:a16="http://schemas.microsoft.com/office/drawing/2014/main" id="{17C09D09-D5EE-4DEC-BF0B-0F85065A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0040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F0ED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51" name="node-deny-title">
            <a:extLst xmlns:a="http://schemas.openxmlformats.org/drawingml/2006/main">
              <a:ext uri="{FF2B5EF4-FFF2-40B4-BE49-F238E27FC236}">
                <a16:creationId xmlns:a16="http://schemas.microsoft.com/office/drawing/2014/main" id="{968C0433-0A30-4988-A4E1-DED2ADC8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2956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× NO KEY</a:t>
            </a:r>
          </a:p>
        </p:txBody>
      </p:sp>
      <p:sp>
        <p:nvSpPr>
          <p:cNvPr id="52" name="node-deny-body">
            <a:extLst xmlns:a="http://schemas.openxmlformats.org/drawingml/2006/main">
              <a:ext uri="{FF2B5EF4-FFF2-40B4-BE49-F238E27FC236}">
                <a16:creationId xmlns:a16="http://schemas.microsoft.com/office/drawing/2014/main" id="{8BAD79F7-AFDB-454D-AABD-E5E47E56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4575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49532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2606D"/>
                </a:solidFill>
              </a:defRPr>
            </a:pPr>
            <a:r>
              <a:rPr sz="1388" b="0">
                <a:solidFill>
                  <a:srgbClr val="52606D"/>
                </a:solidFill>
              </a:rPr>
              <a:t>deny·replay·expiry</a:t>
            </a:r>
          </a:p>
          <a:p xmlns:a="http://schemas.openxmlformats.org/drawingml/2006/main">
            <a:pPr algn="l">
              <a:defRPr sz="1388" b="0">
                <a:solidFill>
                  <a:srgbClr val="52606D"/>
                </a:solidFill>
              </a:defRPr>
            </a:pPr>
            <a:r>
              <a:rPr sz="1388" b="0">
                <a:solidFill>
                  <a:srgbClr val="52606D"/>
                </a:solidFill>
              </a:rPr>
              <a:t>invalid·terminal error</a:t>
            </a:r>
          </a:p>
        </p:txBody>
      </p:sp>
      <p:cxnSp>
        <p:nvCxnSpPr>
          <p:cNvPr id="143" name="edge-request-e003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390650" y="30480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B1220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4" name="edge-nonce-e004"/>
          <p:cNvCxnSpPr>
            <a:stCxn xmlns:a="http://schemas.openxmlformats.org/drawingml/2006/main" id="24" idx="2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H="1">
            <a:off x="923925" y="3581400"/>
            <a:ext cx="1028700" cy="228600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3D8DFF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55" name="request-label">
            <a:extLst xmlns:a="http://schemas.openxmlformats.org/drawingml/2006/main">
              <a:ext uri="{FF2B5EF4-FFF2-40B4-BE49-F238E27FC236}">
                <a16:creationId xmlns:a16="http://schemas.microsoft.com/office/drawing/2014/main" id="{2DD968F9-5D29-4642-892C-1FED8BF7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526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63"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0B1220"/>
                </a:solidFill>
              </a:defRPr>
            </a:pPr>
            <a:r>
              <a:rPr sz="1388" b="0">
                <a:solidFill>
                  <a:srgbClr val="0B1220"/>
                </a:solidFill>
              </a:rPr>
              <a:t>요청</a:t>
            </a:r>
          </a:p>
        </p:txBody>
      </p:sp>
      <p:sp>
        <p:nvSpPr>
          <p:cNvPr id="56" name="nonce-label">
            <a:extLst xmlns:a="http://schemas.openxmlformats.org/drawingml/2006/main">
              <a:ext uri="{FF2B5EF4-FFF2-40B4-BE49-F238E27FC236}">
                <a16:creationId xmlns:a16="http://schemas.microsoft.com/office/drawing/2014/main" id="{3993915A-7BFC-427A-849F-AC8671A5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58"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3D8DFF"/>
                </a:solidFill>
              </a:defRPr>
            </a:pPr>
            <a:r>
              <a:rPr sz="1388" b="0">
                <a:solidFill>
                  <a:srgbClr val="3D8DFF"/>
                </a:solidFill>
              </a:rPr>
              <a:t>nonce</a:t>
            </a:r>
          </a:p>
        </p:txBody>
      </p:sp>
      <p:cxnSp>
        <p:nvCxnSpPr>
          <p:cNvPr id="147" name="edge-context-e005"/>
          <p:cNvCxnSpPr>
            <a:stCxn xmlns:a="http://schemas.openxmlformats.org/drawingml/2006/main" id="21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390650" y="3048000"/>
            <a:ext cx="13335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B1220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8" name="edge-tdreport-e006"/>
          <p:cNvCxnSpPr>
            <a:stCxn xmlns:a="http://schemas.openxmlformats.org/drawingml/2006/main" id="29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3505200" y="3095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220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9" name="edge-qgs-tdqe-e007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4381500" y="30956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220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0" name="edge-quote-e010"/>
          <p:cNvCxnSpPr>
            <a:stCxn xmlns:a="http://schemas.openxmlformats.org/drawingml/2006/main" id="35" idx="2"/>
            <a:endCxn xmlns:a="http://schemas.openxmlformats.org/drawingml/2006/main" id="32" idx="2"/>
          </p:cNvCxnSpPr>
          <p:nvPr/>
        </p:nvCxnSpPr>
        <p:spPr>
          <a:xfrm xmlns:a="http://schemas.openxmlformats.org/drawingml/2006/main" flipH="1">
            <a:off x="4010025" y="3581400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D8DFF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1" name="edge-evidence-e012"/>
          <p:cNvCxnSpPr>
            <a:stCxn xmlns:a="http://schemas.openxmlformats.org/drawingml/2006/main" id="35" idx="2"/>
            <a:endCxn xmlns:a="http://schemas.openxmlformats.org/drawingml/2006/main" id="44" idx="2"/>
          </p:cNvCxnSpPr>
          <p:nvPr/>
        </p:nvCxnSpPr>
        <p:spPr>
          <a:xfrm xmlns:a="http://schemas.openxmlformats.org/drawingml/2006/main">
            <a:off x="4876800" y="3581400"/>
            <a:ext cx="4314825" cy="95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B1220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2" name="edge-evidence-e013"/>
          <p:cNvCxnSpPr>
            <a:stCxn xmlns:a="http://schemas.openxmlformats.org/drawingml/2006/main" id="35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257800" y="3095625"/>
            <a:ext cx="5524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220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63" name="evidence-label-bg">
            <a:extLst xmlns:a="http://schemas.openxmlformats.org/drawingml/2006/main">
              <a:ext uri="{FF2B5EF4-FFF2-40B4-BE49-F238E27FC236}">
                <a16:creationId xmlns:a16="http://schemas.microsoft.com/office/drawing/2014/main" id="{B188CB4E-C0A5-469B-9687-FAD7EC8F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0000"/>
            <a:ext cx="3105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4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ED034608-8BEF-4601-B3B2-B9CAE928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19525"/>
            <a:ext cx="3067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Evidence = exact Quote + K bytes + context</a:t>
            </a:r>
          </a:p>
        </p:txBody>
      </p:sp>
      <p:cxnSp>
        <p:nvCxnSpPr>
          <p:cNvPr id="155" name="edge-result-e015"/>
          <p:cNvCxnSpPr>
            <a:stCxn xmlns:a="http://schemas.openxmlformats.org/drawingml/2006/main" id="40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7886700" y="31432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66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7C6D7454-4CB1-4C77-93D6-EE9D0909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847975"/>
            <a:ext cx="542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D8DFF"/>
                </a:solidFill>
              </a:defRPr>
            </a:pPr>
            <a:r>
              <a:rPr sz="1200" b="0">
                <a:solidFill>
                  <a:srgbClr val="3D8DFF"/>
                </a:solidFill>
              </a:rPr>
              <a:t>signed</a:t>
            </a:r>
          </a:p>
          <a:p xmlns:a="http://schemas.openxmlformats.org/drawingml/2006/main">
            <a:pPr algn="ctr">
              <a:defRPr sz="1200" b="0">
                <a:solidFill>
                  <a:srgbClr val="3D8DFF"/>
                </a:solidFill>
              </a:defRPr>
            </a:pPr>
            <a:r>
              <a:rPr sz="1200" b="0">
                <a:solidFill>
                  <a:srgbClr val="3D8DFF"/>
                </a:solidFill>
              </a:rPr>
              <a:t>Result</a:t>
            </a:r>
          </a:p>
        </p:txBody>
      </p:sp>
      <p:cxnSp>
        <p:nvCxnSpPr>
          <p:cNvPr id="157" name="edge-pop-challenge-e016"/>
          <p:cNvCxnSpPr>
            <a:stCxn xmlns:a="http://schemas.openxmlformats.org/drawingml/2006/main" id="44" idx="2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H="1" flipV="1">
            <a:off x="3114675" y="3581400"/>
            <a:ext cx="6076950" cy="95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B5470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8" name="edge-pop-response-e017"/>
          <p:cNvCxnSpPr>
            <a:stCxn xmlns:a="http://schemas.openxmlformats.org/drawingml/2006/main" id="29" idx="0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3114675" y="2609850"/>
            <a:ext cx="6076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5470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59" name="edge-secret-e018"/>
          <p:cNvCxnSpPr>
            <a:stCxn xmlns:a="http://schemas.openxmlformats.org/drawingml/2006/main" id="44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9886950" y="2809875"/>
            <a:ext cx="20955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7A55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60" name="edge-deny"/>
          <p:cNvCxnSpPr>
            <a:stCxn xmlns:a="http://schemas.openxmlformats.org/drawingml/2006/main" id="44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9886950" y="3143250"/>
            <a:ext cx="20955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4231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61" name="edge-pccs-qgs-e009"/>
          <p:cNvCxnSpPr>
            <a:stCxn xmlns:a="http://schemas.openxmlformats.org/drawingml/2006/main" id="9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4010025" y="1847850"/>
            <a:ext cx="466725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383">
            <a:solidFill>
              <a:srgbClr val="3D8DFF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162" name="edge-pccs-verifier-e014"/>
          <p:cNvCxnSpPr>
            <a:stCxn xmlns:a="http://schemas.openxmlformats.org/drawingml/2006/main" id="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4476750" y="1847850"/>
            <a:ext cx="2371725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383">
            <a:solidFill>
              <a:srgbClr val="3D8DFF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73" name="digest-strip">
            <a:extLst xmlns:a="http://schemas.openxmlformats.org/drawingml/2006/main">
              <a:ext uri="{FF2B5EF4-FFF2-40B4-BE49-F238E27FC236}">
                <a16:creationId xmlns:a16="http://schemas.microsoft.com/office/drawing/2014/main" id="{9913CE87-470A-405B-8298-CD7927FB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74" name="digest-k">
            <a:extLst xmlns:a="http://schemas.openxmlformats.org/drawingml/2006/main">
              <a:ext uri="{FF2B5EF4-FFF2-40B4-BE49-F238E27FC236}">
                <a16:creationId xmlns:a16="http://schemas.microsoft.com/office/drawing/2014/main" id="{91512C9B-B3EB-4285-97FA-B0211269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</a:defRPr>
            </a:pPr>
            <a:r>
              <a:rPr sz="1613" b="1">
                <a:solidFill>
                  <a:srgbClr val="FFFFFF"/>
                </a:solidFill>
              </a:rPr>
              <a:t>K  정규화된 공개키 bytes</a:t>
            </a:r>
          </a:p>
        </p:txBody>
      </p:sp>
      <p:sp>
        <p:nvSpPr>
          <p:cNvPr id="75" name="digest-d">
            <a:extLst xmlns:a="http://schemas.openxmlformats.org/drawingml/2006/main">
              <a:ext uri="{FF2B5EF4-FFF2-40B4-BE49-F238E27FC236}">
                <a16:creationId xmlns:a16="http://schemas.microsoft.com/office/drawing/2014/main" id="{FB578F7F-7853-4D11-A07B-DD59BBB8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719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</a:defRPr>
            </a:pPr>
            <a:r>
              <a:rPr sz="1613" b="1">
                <a:solidFill>
                  <a:srgbClr val="FFFFFF"/>
                </a:solidFill>
              </a:rPr>
              <a:t>D  요청 컨텍스트 + K의 표준 digest</a:t>
            </a:r>
          </a:p>
        </p:txBody>
      </p:sp>
      <p:sp>
        <p:nvSpPr>
          <p:cNvPr id="76" name="digest-e">
            <a:extLst xmlns:a="http://schemas.openxmlformats.org/drawingml/2006/main">
              <a:ext uri="{FF2B5EF4-FFF2-40B4-BE49-F238E27FC236}">
                <a16:creationId xmlns:a16="http://schemas.microsoft.com/office/drawing/2014/main" id="{8802B4ED-0CD6-4C3F-8CCB-E1D0F37B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FFFFFF"/>
                </a:solidFill>
              </a:defRPr>
            </a:pPr>
            <a:r>
              <a:rPr sz="1613" b="1">
                <a:solidFill>
                  <a:srgbClr val="FFFFFF"/>
                </a:solidFill>
              </a:rPr>
              <a:t>E  정확한 TD Quote bytes</a:t>
            </a:r>
          </a:p>
        </p:txBody>
      </p:sp>
      <p:sp>
        <p:nvSpPr>
          <p:cNvPr id="77" name="digest-note">
            <a:extLst xmlns:a="http://schemas.openxmlformats.org/drawingml/2006/main">
              <a:ext uri="{FF2B5EF4-FFF2-40B4-BE49-F238E27FC236}">
                <a16:creationId xmlns:a16="http://schemas.microsoft.com/office/drawing/2014/main" id="{DAAC382F-F31E-4753-8B09-2F2B849A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63"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D9E2EC"/>
                </a:solidFill>
              </a:defRPr>
            </a:pPr>
            <a:r>
              <a:rPr sz="1388" b="0">
                <a:solidFill>
                  <a:srgbClr val="D9E2EC"/>
                </a:solidFill>
              </a:rPr>
              <a:t>Verifier가 같은 값을 재계산하고, Result와 RP/KMS가 E·K를 이어서 확인한다</a:t>
            </a:r>
          </a:p>
        </p:txBody>
      </p:sp>
      <p:sp>
        <p:nvSpPr>
          <p:cNvPr id="78" name="support-rule">
            <a:extLst xmlns:a="http://schemas.openxmlformats.org/drawingml/2006/main">
              <a:ext uri="{FF2B5EF4-FFF2-40B4-BE49-F238E27FC236}">
                <a16:creationId xmlns:a16="http://schemas.microsoft.com/office/drawing/2014/main" id="{56DD08EE-EB45-4AB5-8751-9CD7A44D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9" name="proof-header">
            <a:extLst xmlns:a="http://schemas.openxmlformats.org/drawingml/2006/main">
              <a:ext uri="{FF2B5EF4-FFF2-40B4-BE49-F238E27FC236}">
                <a16:creationId xmlns:a16="http://schemas.microsoft.com/office/drawing/2014/main" id="{0FA32FE8-D6A6-487F-BB4A-9EC9254A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증명하는 것 / 증명하지 않는 것</a:t>
            </a:r>
          </a:p>
        </p:txBody>
      </p:sp>
      <p:sp>
        <p:nvSpPr>
          <p:cNvPr id="80" name="proof-yes">
            <a:extLst xmlns:a="http://schemas.openxmlformats.org/drawingml/2006/main">
              <a:ext uri="{FF2B5EF4-FFF2-40B4-BE49-F238E27FC236}">
                <a16:creationId xmlns:a16="http://schemas.microsoft.com/office/drawing/2014/main" id="{61219165-8AE0-4683-AEC3-AD0CA5EE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38775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48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157A55"/>
                </a:solidFill>
              </a:defRPr>
            </a:pPr>
            <a:r>
              <a:rPr sz="1613" b="0">
                <a:solidFill>
                  <a:srgbClr val="157A55"/>
                </a:solidFill>
              </a:rPr>
              <a:t>✓ Quote 무결성 · 측정 상태 · REPORTDATA 결합</a:t>
            </a:r>
          </a:p>
        </p:txBody>
      </p:sp>
      <p:sp>
        <p:nvSpPr>
          <p:cNvPr id="81" name="proof-no">
            <a:extLst xmlns:a="http://schemas.openxmlformats.org/drawingml/2006/main">
              <a:ext uri="{FF2B5EF4-FFF2-40B4-BE49-F238E27FC236}">
                <a16:creationId xmlns:a16="http://schemas.microsoft.com/office/drawing/2014/main" id="{E526E351-A8EE-4C81-BC2A-8FA10C06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2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B42318"/>
                </a:solidFill>
              </a:defRPr>
            </a:pPr>
            <a:r>
              <a:rPr sz="1613" b="0">
                <a:solidFill>
                  <a:srgbClr val="B42318"/>
                </a:solidFill>
              </a:rPr>
              <a:t>× 코드 정확성 · 컨테이너 신원 · 미래 안전 · 가용성</a:t>
            </a:r>
          </a:p>
        </p:txBody>
      </p:sp>
      <p:sp>
        <p:nvSpPr>
          <p:cNvPr id="82" name="support-divider-1">
            <a:extLst xmlns:a="http://schemas.openxmlformats.org/drawingml/2006/main">
              <a:ext uri="{FF2B5EF4-FFF2-40B4-BE49-F238E27FC236}">
                <a16:creationId xmlns:a16="http://schemas.microsoft.com/office/drawing/2014/main" id="{8600F6ED-8CFA-41F2-8E0B-518FD6AC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05400"/>
            <a:ext cx="142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3" name="owner-header">
            <a:extLst xmlns:a="http://schemas.openxmlformats.org/drawingml/2006/main">
              <a:ext uri="{FF2B5EF4-FFF2-40B4-BE49-F238E27FC236}">
                <a16:creationId xmlns:a16="http://schemas.microsoft.com/office/drawing/2014/main" id="{77941F12-8935-4BBD-BC71-735C4D06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05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책임은 둘로 나뉜다</a:t>
            </a:r>
          </a:p>
        </p:txBody>
      </p:sp>
      <p:sp>
        <p:nvSpPr>
          <p:cNvPr id="84" name="owner-appraisal">
            <a:extLst xmlns:a="http://schemas.openxmlformats.org/drawingml/2006/main">
              <a:ext uri="{FF2B5EF4-FFF2-40B4-BE49-F238E27FC236}">
                <a16:creationId xmlns:a16="http://schemas.microsoft.com/office/drawing/2014/main" id="{BEAB9BFC-6B4D-4A59-B130-4C0E44BF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45782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3D8DFF"/>
                </a:solidFill>
              </a:defRPr>
            </a:pPr>
            <a:r>
              <a:rPr sz="1463" b="0">
                <a:solidFill>
                  <a:srgbClr val="3D8DFF"/>
                </a:solidFill>
              </a:rPr>
              <a:t>Verifier Owner → Evidence 평가 정책</a:t>
            </a:r>
          </a:p>
        </p:txBody>
      </p:sp>
      <p:sp>
        <p:nvSpPr>
          <p:cNvPr id="85" name="owner-release">
            <a:extLst xmlns:a="http://schemas.openxmlformats.org/drawingml/2006/main">
              <a:ext uri="{FF2B5EF4-FFF2-40B4-BE49-F238E27FC236}">
                <a16:creationId xmlns:a16="http://schemas.microsoft.com/office/drawing/2014/main" id="{DFA0EC9F-D161-465B-BC1F-E4E399B8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772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0B1220"/>
                </a:solidFill>
              </a:defRPr>
            </a:pPr>
            <a:r>
              <a:rPr sz="1463" b="0">
                <a:solidFill>
                  <a:srgbClr val="0B1220"/>
                </a:solidFill>
              </a:rPr>
              <a:t>RP Owner → Result 사용·자산 공개 정책</a:t>
            </a:r>
          </a:p>
        </p:txBody>
      </p:sp>
      <p:sp>
        <p:nvSpPr>
          <p:cNvPr id="86" name="support-divider-2">
            <a:extLst xmlns:a="http://schemas.openxmlformats.org/drawingml/2006/main">
              <a:ext uri="{FF2B5EF4-FFF2-40B4-BE49-F238E27FC236}">
                <a16:creationId xmlns:a16="http://schemas.microsoft.com/office/drawing/2014/main" id="{6A199302-F262-4E8B-A37C-A2C9C07A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05400"/>
            <a:ext cx="14288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7" name="lens-header">
            <a:extLst xmlns:a="http://schemas.openxmlformats.org/drawingml/2006/main">
              <a:ext uri="{FF2B5EF4-FFF2-40B4-BE49-F238E27FC236}">
                <a16:creationId xmlns:a16="http://schemas.microsoft.com/office/drawing/2014/main" id="{E9D50E2F-A824-4F52-AA5B-77225447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05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Intel-rats는 이렇게 쓴다</a:t>
            </a:r>
          </a:p>
        </p:txBody>
      </p:sp>
      <p:sp>
        <p:nvSpPr>
          <p:cNvPr id="88" name="lens-body">
            <a:extLst xmlns:a="http://schemas.openxmlformats.org/drawingml/2006/main">
              <a:ext uri="{FF2B5EF4-FFF2-40B4-BE49-F238E27FC236}">
                <a16:creationId xmlns:a16="http://schemas.microsoft.com/office/drawing/2014/main" id="{D8811624-48A8-415E-A2E9-ACFC7620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5782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13" b="0">
                <a:solidFill>
                  <a:srgbClr val="52606D"/>
                </a:solidFill>
              </a:defRPr>
            </a:pPr>
            <a:r>
              <a:rPr sz="1613" b="0">
                <a:solidFill>
                  <a:srgbClr val="52606D"/>
                </a:solidFill>
              </a:rPr>
              <a:t>구조 학습·설계 리뷰 질문에 사용</a:t>
            </a:r>
          </a:p>
          <a:p xmlns:a="http://schemas.openxmlformats.org/drawingml/2006/main">
            <a:pPr algn="l">
              <a:defRPr sz="1613" b="0">
                <a:solidFill>
                  <a:srgbClr val="52606D"/>
                </a:solidFill>
              </a:defRPr>
            </a:pPr>
            <a:r>
              <a:rPr sz="1613" b="0">
                <a:solidFill>
                  <a:srgbClr val="52606D"/>
                </a:solidFill>
              </a:rPr>
              <a:t>배포용 Quote 검증 참조 코드는 아님</a:t>
            </a:r>
          </a:p>
        </p:txBody>
      </p:sp>
      <p:sp>
        <p:nvSpPr>
          <p:cNvPr id="89" name="source">
            <a:extLst xmlns:a="http://schemas.openxmlformats.org/drawingml/2006/main">
              <a:ext uri="{FF2B5EF4-FFF2-40B4-BE49-F238E27FC236}">
                <a16:creationId xmlns:a16="http://schemas.microsoft.com/office/drawing/2014/main" id="{2854F3CC-C118-4B92-872C-EC32F7BA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52606D"/>
                </a:solidFill>
              </a:defRPr>
            </a:pPr>
            <a:r>
              <a:rPr sz="1388" b="0">
                <a:solidFill>
                  <a:srgbClr val="52606D"/>
                </a:solidFill>
              </a:rPr>
              <a:t>Source: approved Point · RFC 9334 · Intel TDX/DCAP source ledger · bitboom/Intel-rats</a:t>
            </a:r>
          </a:p>
        </p:txBody>
      </p:sp>
      <p:sp>
        <p:nvSpPr>
          <p:cNvPr id="9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EDA75B-0DBE-415C-A971-C6065527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63"/>
          </a:bodyPr>
          <a:lstStyle xmlns:a="http://schemas.openxmlformats.org/drawingml/2006/main"/>
          <a:p xmlns:a="http://schemas.openxmlformats.org/drawingml/2006/main">
            <a:pPr algn="r">
              <a:defRPr sz="1388" b="0">
                <a:solidFill>
                  <a:srgbClr val="52606D"/>
                </a:solidFill>
              </a:defRPr>
            </a:pPr>
            <a:r>
              <a:rPr sz="1388" b="0">
                <a:solidFill>
                  <a:srgbClr val="52606D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92773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2026-07-16T21:18:20.5860000Z</dcterms:created>
  <dcterms:modified xsi:type="dcterms:W3CDTF">2026-07-16T21:18:20.5860000Z</dcterms:modified>
</coreProperties>
</file>