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 TDX 원격 증명은 release-control system이다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하드웨어 Evidence appraisal과 secret release를 하나로 합치지 않고, 서로 다른 책임으로 연결한다.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307592"/>
            <a:ext cx="1335024" cy="2468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67028"/>
            <a:ext cx="13350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POINT THESIS · C-001</a:t>
            </a:r>
            <a:endParaRPr lang="en-US" sz="76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8275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선택한 trust anchor와 조직 policy가 유효하다는 가정 아래, Verifier는 Evidence를 평가하고 RP/KMS는 별도 policy로 비밀 공개를 결정한다.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2423160" cy="2029968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907792"/>
            <a:ext cx="438912" cy="246888"/>
          </a:xfrm>
          <a:prstGeom prst="rect">
            <a:avLst/>
          </a:prstGeom>
          <a:solidFill>
            <a:srgbClr val="1F5975"/>
          </a:solidFill>
          <a:ln w="8890">
            <a:solidFill>
              <a:srgbClr val="1F59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96722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694944" y="325526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4944" y="363016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TD가 report와 bound context를 만든다.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QGS와 TDQE는 서로 다른 역할이다.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3218688" y="2761488"/>
            <a:ext cx="2423160" cy="202996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2907792"/>
            <a:ext cx="438912" cy="246888"/>
          </a:xfrm>
          <a:prstGeom prst="rect">
            <a:avLst/>
          </a:prstGeom>
          <a:solidFill>
            <a:srgbClr val="075568"/>
          </a:solidFill>
          <a:ln w="8890">
            <a:solidFill>
              <a:srgbClr val="07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96722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</a:t>
            </a:r>
            <a:endParaRPr lang="en-US" sz="760" dirty="0"/>
          </a:p>
        </p:txBody>
      </p:sp>
      <p:sp>
        <p:nvSpPr>
          <p:cNvPr id="16" name="Text 14"/>
          <p:cNvSpPr/>
          <p:nvPr/>
        </p:nvSpPr>
        <p:spPr>
          <a:xfrm>
            <a:off x="3364992" y="325526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364992" y="363016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Quote·collateral·context를 검증하고 appraisal Result를 signed 한다.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5888736" y="2761488"/>
            <a:ext cx="2423160" cy="2029968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2907792"/>
            <a:ext cx="438912" cy="246888"/>
          </a:xfrm>
          <a:prstGeom prst="rect">
            <a:avLst/>
          </a:prstGeom>
          <a:solidFill>
            <a:srgbClr val="0F4DAA"/>
          </a:solidFill>
          <a:ln w="8890">
            <a:solidFill>
              <a:srgbClr val="0F4D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96722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035040" y="325526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035040" y="3630168"/>
            <a:ext cx="2130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Result를 policy 입력으로 사용한다.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Release와 deny 책임은 여기 있다.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8979408" y="2871216"/>
            <a:ext cx="2377440" cy="74980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0" y="3054096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9144000" y="3392424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8F5E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one-time secret release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979408" y="3931920"/>
            <a:ext cx="2377440" cy="74980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4114800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 KEY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9144000" y="4453128"/>
            <a:ext cx="2048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E1D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deny · replay · expiry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980944" y="3730752"/>
            <a:ext cx="228600" cy="0"/>
          </a:xfrm>
          <a:prstGeom prst="line">
            <a:avLst/>
          </a:prstGeom>
          <a:noFill/>
          <a:ln w="25400">
            <a:solidFill>
              <a:srgbClr val="80CFE5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650992" y="3730752"/>
            <a:ext cx="228600" cy="0"/>
          </a:xfrm>
          <a:prstGeom prst="line">
            <a:avLst/>
          </a:prstGeom>
          <a:noFill/>
          <a:ln w="25400">
            <a:solidFill>
              <a:srgbClr val="75C1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21040" y="3383280"/>
            <a:ext cx="649224" cy="-128016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21040" y="4041648"/>
            <a:ext cx="649224" cy="228600"/>
          </a:xfrm>
          <a:prstGeom prst="line">
            <a:avLst/>
          </a:prstGeom>
          <a:noFill/>
          <a:ln w="2540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48640" y="53309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E9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교육 / design-review lens: Intel-rats는 deployable verifier baseline이 아니다.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2442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C-001 · C-004 · B-004/B-006. Structural overview; detailed evidence/result paths follow.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경로에 있어도, 같은 trust role은 아니다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구조적 deck은 actor·authority·cache·decision owner를 분리해 읽게 한다.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18688" cy="4434840"/>
          </a:xfrm>
          <a:prstGeom prst="rect">
            <a:avLst/>
          </a:prstGeom>
          <a:solidFill>
            <a:srgbClr val="EAF4FA"/>
          </a:solidFill>
          <a:ln w="8890">
            <a:solidFill>
              <a:srgbClr val="EAF4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73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/ QGS / TDQE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9808" y="2148840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50008"/>
            <a:ext cx="731520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0944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1773936" y="239572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report와 bound key context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749808" y="3227832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429000"/>
            <a:ext cx="731520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884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1773936" y="347472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transport / coordination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749808" y="4306824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07992"/>
            <a:ext cx="731520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674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773936" y="455371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signer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4160520" y="1417320"/>
            <a:ext cx="3218688" cy="4434840"/>
          </a:xfrm>
          <a:prstGeom prst="rect">
            <a:avLst/>
          </a:prstGeom>
          <a:solidFill>
            <a:srgbClr val="FFF8E5"/>
          </a:solidFill>
          <a:ln w="8890">
            <a:solidFill>
              <a:srgbClr val="FFF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673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 / PCCS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61688" y="2148840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350008"/>
            <a:ext cx="731520" cy="246888"/>
          </a:xfrm>
          <a:prstGeom prst="rect">
            <a:avLst/>
          </a:prstGeom>
          <a:solidFill>
            <a:srgbClr val="A96500"/>
          </a:solidFill>
          <a:ln w="8890">
            <a:solidFill>
              <a:srgbClr val="A96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240944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5385816" y="239572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collateral authority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361688" y="3227832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429000"/>
            <a:ext cx="731520" cy="246888"/>
          </a:xfrm>
          <a:prstGeom prst="rect">
            <a:avLst/>
          </a:prstGeom>
          <a:solidFill>
            <a:srgbClr val="A96500"/>
          </a:solidFill>
          <a:ln w="8890">
            <a:solidFill>
              <a:srgbClr val="A96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34884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5385816" y="347472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cache / transport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4361688" y="4306824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4507992"/>
            <a:ext cx="731520" cy="246888"/>
          </a:xfrm>
          <a:prstGeom prst="rect">
            <a:avLst/>
          </a:prstGeom>
          <a:solidFill>
            <a:srgbClr val="A96500"/>
          </a:solidFill>
          <a:ln w="8890">
            <a:solidFill>
              <a:srgbClr val="A96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45674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Operations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5385816" y="455371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outage·revocation policy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7772400" y="1417320"/>
            <a:ext cx="3218688" cy="4434840"/>
          </a:xfrm>
          <a:prstGeom prst="rect">
            <a:avLst/>
          </a:prstGeom>
          <a:solidFill>
            <a:srgbClr val="EEF2FF"/>
          </a:solidFill>
          <a:ln w="8890">
            <a:solidFill>
              <a:srgbClr val="EEF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167335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→ RP/KMS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7973568" y="2148840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2350008"/>
            <a:ext cx="731520" cy="246888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240944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8997696" y="239572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appraisal + signed Result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7973568" y="3227832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3429000"/>
            <a:ext cx="731520" cy="246888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38160" y="3488436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8997696" y="347472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Result-use policy + release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7973568" y="4306824"/>
            <a:ext cx="2816352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4507992"/>
            <a:ext cx="731520" cy="246888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456742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Boundary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8997696" y="455371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Result는 action이 아니다</a:t>
            </a:r>
            <a:endParaRPr lang="en-US" sz="970" dirty="0"/>
          </a:p>
        </p:txBody>
      </p:sp>
      <p:sp>
        <p:nvSpPr>
          <p:cNvPr id="47" name="Text 45"/>
          <p:cNvSpPr/>
          <p:nvPr/>
        </p:nvSpPr>
        <p:spPr>
          <a:xfrm>
            <a:off x="685800" y="596188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Required distinctions: QGS ≠ TDQE · PCS ≠ PCCS · Verifier ≠ RP/KMS · Evidence ≠ Result ≠ action.</a:t>
            </a:r>
            <a:endParaRPr lang="en-US" sz="1160" dirty="0"/>
          </a:p>
        </p:txBody>
      </p:sp>
      <p:sp>
        <p:nvSpPr>
          <p:cNvPr id="48" name="Shape 4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C-005 and Point five-boundary inventory. Color supports labels; it does not encode meaning alone.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Primary path: request binding부터 one-time release까지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단계는 다른 artifact와 owner를 갖는다. path가 닫혀야 policy action을 정당화할 수 있다.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11480" y="1920240"/>
            <a:ext cx="1527048" cy="1993392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6654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212598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557784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57784" y="2788920"/>
            <a:ext cx="1234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subject · audience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1947672" y="2880360"/>
            <a:ext cx="347472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13432" y="1920240"/>
            <a:ext cx="1527048" cy="1993392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9736" y="206654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212598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2459736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Context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459736" y="2788920"/>
            <a:ext cx="1234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nonce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retains request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3849624" y="2880360"/>
            <a:ext cx="347472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15384" y="1920240"/>
            <a:ext cx="1527048" cy="1993392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61688" y="206654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212598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4361688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361688" y="2788920"/>
            <a:ext cx="1234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Report / Quote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D/K binding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5751576" y="2880360"/>
            <a:ext cx="347472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17336" y="1920240"/>
            <a:ext cx="1527048" cy="1993392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06654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12598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6263640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Appraisal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263640" y="2788920"/>
            <a:ext cx="1234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validates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+ collateral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653528" y="2880360"/>
            <a:ext cx="347472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19288" y="1920240"/>
            <a:ext cx="1527048" cy="1993392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65592" y="206654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65592" y="212598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8165592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165592" y="2788920"/>
            <a:ext cx="1234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verdict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 + policy version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9555480" y="2880360"/>
            <a:ext cx="347472" cy="0"/>
          </a:xfrm>
          <a:prstGeom prst="line">
            <a:avLst/>
          </a:prstGeom>
          <a:noFill/>
          <a:ln w="22860">
            <a:solidFill>
              <a:srgbClr val="175CD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921240" y="1920240"/>
            <a:ext cx="1527048" cy="1993392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67544" y="206654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67544" y="212598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10067544" y="2414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Action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0067544" y="2788920"/>
            <a:ext cx="1234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 policy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→ secret / no key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566928" y="4434840"/>
            <a:ext cx="11064240" cy="987552"/>
          </a:xfrm>
          <a:prstGeom prst="rect">
            <a:avLst/>
          </a:prstGeom>
          <a:solidFill>
            <a:srgbClr val="E9F4FB"/>
          </a:solidFill>
          <a:ln w="8890">
            <a:solidFill>
              <a:srgbClr val="E9F4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6817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Closed-path invariant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788920" y="4681728"/>
            <a:ext cx="8366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must reach appraisal with the intended request/key context; the authenticated Result must reach the distinct policy owner before any release.</a:t>
            </a:r>
            <a:endParaRPr lang="en-US" sz="1240" dirty="0"/>
          </a:p>
        </p:txBody>
      </p:sp>
      <p:sp>
        <p:nvSpPr>
          <p:cNvPr id="43" name="Shape 41"/>
          <p:cNvSpPr/>
          <p:nvPr/>
        </p:nvSpPr>
        <p:spPr>
          <a:xfrm>
            <a:off x="2240280" y="5650992"/>
            <a:ext cx="566928" cy="2468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40280" y="571042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E-013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4882896" y="5650992"/>
            <a:ext cx="566928" cy="2468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571042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E-015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7525512" y="5650992"/>
            <a:ext cx="566928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25512" y="5710428"/>
            <a:ext cx="5669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E-018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2880360" y="5715000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+ key + context</a:t>
            </a:r>
            <a:endParaRPr lang="en-US" sz="870" dirty="0"/>
          </a:p>
        </p:txBody>
      </p:sp>
      <p:sp>
        <p:nvSpPr>
          <p:cNvPr id="50" name="Text 48"/>
          <p:cNvSpPr/>
          <p:nvPr/>
        </p:nvSpPr>
        <p:spPr>
          <a:xfrm>
            <a:off x="5532120" y="571500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8183880" y="5715000"/>
            <a:ext cx="1874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same approved K channel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 · E-013/E-015/E-018 · B-004/B-006.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Evidence는 Quote 하나가 아니라, 연결된 input set이다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선택한 attestation trust model과 appraisal policy 아래에서 Verifier는 Quote, collateral, canonical key bytes, bound request context를 같은 appraisal에 넣는다.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304288" cy="2249424"/>
          </a:xfrm>
          <a:prstGeom prst="rect">
            <a:avLst/>
          </a:prstGeom>
          <a:solidFill>
            <a:srgbClr val="EAF4FA"/>
          </a:solidFill>
          <a:ln w="8890">
            <a:solidFill>
              <a:srgbClr val="EAF4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0824"/>
            <a:ext cx="438912" cy="246888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8026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1323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TDREPORT / Quote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274320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reported TD state와 D/K bound context를 전달한다.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1719072" y="4160520"/>
            <a:ext cx="4370832" cy="576072"/>
          </a:xfrm>
          <a:prstGeom prst="line">
            <a:avLst/>
          </a:prstGeom>
          <a:noFill/>
          <a:ln w="16510">
            <a:solidFill>
              <a:srgbClr val="315B86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1874520"/>
            <a:ext cx="2304288" cy="2249424"/>
          </a:xfrm>
          <a:prstGeom prst="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2020824"/>
            <a:ext cx="438912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08026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60" dirty="0"/>
          </a:p>
        </p:txBody>
      </p:sp>
      <p:sp>
        <p:nvSpPr>
          <p:cNvPr id="14" name="Text 12"/>
          <p:cNvSpPr/>
          <p:nvPr/>
        </p:nvSpPr>
        <p:spPr>
          <a:xfrm>
            <a:off x="354787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key bytes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547872" y="274320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Result-use 단계에서 다시 확인할 key binding의 기준이다.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4553712" y="4160520"/>
            <a:ext cx="1536192" cy="576072"/>
          </a:xfrm>
          <a:prstGeom prst="line">
            <a:avLst/>
          </a:prstGeom>
          <a:noFill/>
          <a:ln w="16510">
            <a:solidFill>
              <a:srgbClr val="15803D"/>
            </a:solidFill>
            <a:prstDash val="dash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36208" y="1874520"/>
            <a:ext cx="2304288" cy="2249424"/>
          </a:xfrm>
          <a:prstGeom prst="rect">
            <a:avLst/>
          </a:prstGeom>
          <a:solidFill>
            <a:srgbClr val="F2EEFF"/>
          </a:solidFill>
          <a:ln w="8890">
            <a:solidFill>
              <a:srgbClr val="F2E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82512" y="2020824"/>
            <a:ext cx="438912" cy="246888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08026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6382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context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82512" y="274320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 · subject · audience를 통한 request binding의 기준이다.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388352" y="4160520"/>
            <a:ext cx="-1298448" cy="576072"/>
          </a:xfrm>
          <a:prstGeom prst="line">
            <a:avLst/>
          </a:prstGeom>
          <a:noFill/>
          <a:ln w="16510">
            <a:solidFill>
              <a:srgbClr val="7C3AED"/>
            </a:solidFill>
            <a:prstDash val="dash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70848" y="1874520"/>
            <a:ext cx="2304288" cy="2249424"/>
          </a:xfrm>
          <a:prstGeom prst="rect">
            <a:avLst/>
          </a:prstGeom>
          <a:solidFill>
            <a:srgbClr val="FFF8E5"/>
          </a:solidFill>
          <a:ln w="8890">
            <a:solidFill>
              <a:srgbClr val="FFF8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7152" y="2020824"/>
            <a:ext cx="438912" cy="246888"/>
          </a:xfrm>
          <a:prstGeom prst="rect">
            <a:avLst/>
          </a:prstGeom>
          <a:solidFill>
            <a:srgbClr val="A96500"/>
          </a:solidFill>
          <a:ln w="8890">
            <a:solidFill>
              <a:srgbClr val="A96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208026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921715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A9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collateral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217152" y="2743200"/>
            <a:ext cx="2011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A9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authority bytes의 chain · status · freshness를 평가한다.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10222992" y="4160520"/>
            <a:ext cx="-4133088" cy="576072"/>
          </a:xfrm>
          <a:prstGeom prst="line">
            <a:avLst/>
          </a:prstGeom>
          <a:noFill/>
          <a:ln w="16510">
            <a:solidFill>
              <a:srgbClr val="A96500"/>
            </a:solidFill>
            <a:prstDash val="dash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53128" y="4590288"/>
            <a:ext cx="3273552" cy="914400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8280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appraisal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645152" y="5148072"/>
            <a:ext cx="2880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D8F5E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각 input의 binding과 validity를 함께 판정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66928" y="5733288"/>
            <a:ext cx="11064240" cy="347472"/>
          </a:xfrm>
          <a:prstGeom prst="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852160"/>
            <a:ext cx="10561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Proof limit: Quote validity만으로 result-use policy, one-time state, workload identity, runtime behavior를 대체하지 않는다.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C-004/C-007 · E-013 · B-004.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generation: TD, QGS, TDQE의 역할을 섞지 않는다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QGS는 guest-path transport/coordination이고 TDQE가 Quote를 sign한다. K/D/E는 이 Point의 symbolic deployment profile이다.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30352" y="1298448"/>
            <a:ext cx="1865376" cy="594360"/>
          </a:xfrm>
          <a:prstGeom prst="rect">
            <a:avLst/>
          </a:prstGeom>
          <a:solidFill>
            <a:srgbClr val="315B86"/>
          </a:solidFill>
          <a:ln w="8890">
            <a:solidFill>
              <a:srgbClr val="315B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30352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attester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463040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788920" y="1298448"/>
            <a:ext cx="1865376" cy="594360"/>
          </a:xfrm>
          <a:prstGeom prst="rect">
            <a:avLst/>
          </a:prstGeom>
          <a:solidFill>
            <a:srgbClr val="64748B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88920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transport only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721608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047488" y="1298448"/>
            <a:ext cx="1865376" cy="594360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47488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signer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980176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06056" y="1298448"/>
            <a:ext cx="1865376" cy="594360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306056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owner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8238744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564624" y="1298448"/>
            <a:ext cx="1865376" cy="594360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64624" y="1444752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564624" y="16733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E9F2F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appraisal owner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497312" y="1920240"/>
            <a:ext cx="0" cy="4133088"/>
          </a:xfrm>
          <a:prstGeom prst="line">
            <a:avLst/>
          </a:prstGeom>
          <a:noFill/>
          <a:ln w="8255">
            <a:solidFill>
              <a:srgbClr val="B7C8D7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463040" y="2432304"/>
            <a:ext cx="2267712" cy="0"/>
          </a:xfrm>
          <a:prstGeom prst="line">
            <a:avLst/>
          </a:prstGeom>
          <a:noFill/>
          <a:ln w="22860">
            <a:solidFill>
              <a:srgbClr val="315B86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83080" y="2185416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TDREPORT: D/K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3730752" y="2926080"/>
            <a:ext cx="2258568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4041648" y="2679192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same-platform report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989320" y="3419856"/>
            <a:ext cx="-2258568" cy="0"/>
          </a:xfrm>
          <a:prstGeom prst="line">
            <a:avLst/>
          </a:prstGeom>
          <a:noFill/>
          <a:ln w="2286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05072" y="3172968"/>
            <a:ext cx="17007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TDQE-signed Quote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730752" y="3913632"/>
            <a:ext cx="-2267712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627632" y="3666744"/>
            <a:ext cx="1938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 returns through guest path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463040" y="4407408"/>
            <a:ext cx="6784848" cy="0"/>
          </a:xfrm>
          <a:prstGeom prst="line">
            <a:avLst/>
          </a:prstGeom>
          <a:noFill/>
          <a:ln w="22860">
            <a:solidFill>
              <a:srgbClr val="315B86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246120" y="4160520"/>
            <a:ext cx="3127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15B8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exact Quote + canonical key bytes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247888" y="4828032"/>
            <a:ext cx="2258568" cy="0"/>
          </a:xfrm>
          <a:prstGeom prst="line">
            <a:avLst/>
          </a:prstGeom>
          <a:noFill/>
          <a:ln w="2286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275320" y="458114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5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E-013: Evidence + key + bound request context</a:t>
            </a:r>
            <a:endParaRPr lang="en-US" sz="765" dirty="0"/>
          </a:p>
        </p:txBody>
      </p:sp>
      <p:sp>
        <p:nvSpPr>
          <p:cNvPr id="37" name="Shape 35"/>
          <p:cNvSpPr/>
          <p:nvPr/>
        </p:nvSpPr>
        <p:spPr>
          <a:xfrm>
            <a:off x="640080" y="5413248"/>
            <a:ext cx="3410712" cy="603504"/>
          </a:xfrm>
          <a:prstGeom prst="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" y="5532120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Anti-collapse rule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768096" y="5760720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QGS transport success는 Quote signing authority가 아니다.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4389120" y="5413248"/>
            <a:ext cx="3410712" cy="603504"/>
          </a:xfrm>
          <a:prstGeom prst="rect">
            <a:avLst/>
          </a:prstGeom>
          <a:solidFill>
            <a:srgbClr val="E9F4FB"/>
          </a:solidFill>
          <a:ln w="8890">
            <a:solidFill>
              <a:srgbClr val="E9F4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17136" y="5532120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Binding rule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4517136" y="5760720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RP/KMS가 bound package를 Verifier에 전달하고 retained context와 맞춘다.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8138160" y="5413248"/>
            <a:ext cx="3410712" cy="603504"/>
          </a:xfrm>
          <a:prstGeom prst="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66176" y="5532120"/>
            <a:ext cx="3154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Reader check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8266176" y="5760720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sign·transport하고, 어느 bytes를 평가하는가?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N-004/N-005/N-006/N-003 · C-004 · QGS/TDQE distinction.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Collateral: PCS authority와 PCCS cache를 구별한다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Verifier가 신뢰하는 것은 cache의 availability가 아니라 received bytes의 cryptographic/status/freshness checks다.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331720" cy="1965960"/>
          </a:xfrm>
          <a:prstGeom prst="rect">
            <a:avLst/>
          </a:prstGeom>
          <a:solidFill>
            <a:srgbClr val="FFF8E5"/>
          </a:solidFill>
          <a:ln w="8890">
            <a:solidFill>
              <a:srgbClr val="FFF8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57984"/>
            <a:ext cx="438912" cy="246888"/>
          </a:xfrm>
          <a:prstGeom prst="rect">
            <a:avLst/>
          </a:prstGeom>
          <a:solidFill>
            <a:srgbClr val="A96500"/>
          </a:solidFill>
          <a:ln w="8890">
            <a:solidFill>
              <a:srgbClr val="A96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1742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8A5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 PCS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2880360"/>
            <a:ext cx="20391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8A5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collateral authority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8A5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issuer / signed data origin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910328" y="2011680"/>
            <a:ext cx="2331720" cy="1965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56632" y="2157984"/>
            <a:ext cx="438912" cy="246888"/>
          </a:xfrm>
          <a:prstGeom prst="rect">
            <a:avLst/>
          </a:prstGeom>
          <a:solidFill>
            <a:srgbClr val="45627D"/>
          </a:solidFill>
          <a:ln w="8890">
            <a:solidFill>
              <a:srgbClr val="4562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221742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5056632" y="250545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56632" y="2880360"/>
            <a:ext cx="20391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cache / transport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availability와 authority를 분리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9180576" y="2011680"/>
            <a:ext cx="2331720" cy="1965960"/>
          </a:xfrm>
          <a:prstGeom prst="rect">
            <a:avLst/>
          </a:prstGeom>
          <a:solidFill>
            <a:srgbClr val="E9F4FB"/>
          </a:solidFill>
          <a:ln w="8890">
            <a:solidFill>
              <a:srgbClr val="E9F4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0" y="2157984"/>
            <a:ext cx="438912" cy="2468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21742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9326880" y="2505456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326880" y="2880360"/>
            <a:ext cx="203911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signature · chain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status · freshness 검증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990088" y="2990088"/>
            <a:ext cx="1901952" cy="0"/>
          </a:xfrm>
          <a:prstGeom prst="line">
            <a:avLst/>
          </a:prstGeom>
          <a:noFill/>
          <a:ln w="29210">
            <a:solidFill>
              <a:srgbClr val="A96500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310128" y="26791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A965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collateral bytes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260336" y="2990088"/>
            <a:ext cx="1901952" cy="0"/>
          </a:xfrm>
          <a:prstGeom prst="line">
            <a:avLst/>
          </a:prstGeom>
          <a:noFill/>
          <a:ln w="29210">
            <a:solidFill>
              <a:srgbClr val="0E749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62088" y="26791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cache-delivered bytes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777240" y="4636008"/>
            <a:ext cx="10625328" cy="960120"/>
          </a:xfrm>
          <a:prstGeom prst="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87375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Operating consequence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89504" y="48737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PCCS outage와 collateral/certificate revocation은 별도 운영 policy가 필요하다. PCCS availability는 attestation validity를 보장하지 않는다.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C-005 · N-008 · E-014. PCS ≠ PCCS.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Result는 release의 증거 입력이지, release 그 자체가 아니다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Verifier의 appraisal과 RP/KMS의 policy decision은 authenticated boundary로 연결되지만 같은 책임이 아니다.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3017520" cy="2788920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75104"/>
            <a:ext cx="438912" cy="246888"/>
          </a:xfrm>
          <a:prstGeom prst="rect">
            <a:avLst/>
          </a:prstGeom>
          <a:solidFill>
            <a:srgbClr val="075568"/>
          </a:solidFill>
          <a:ln w="8890">
            <a:solidFill>
              <a:srgbClr val="07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345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804672" y="23225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Result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272491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verdict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policy version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identity 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allow-only canonical key K</a:t>
            </a:r>
            <a:endParaRPr lang="en-US" sz="1070" dirty="0"/>
          </a:p>
          <a:p>
            <a:pPr indent="0" marL="0">
              <a:buNone/>
            </a:pP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Result는 verifier가 authenticated하게 전달한다.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3694176" y="3218688"/>
            <a:ext cx="1261872" cy="0"/>
          </a:xfrm>
          <a:prstGeom prst="line">
            <a:avLst/>
          </a:prstGeom>
          <a:noFill/>
          <a:ln w="34290">
            <a:solidFill>
              <a:srgbClr val="75C1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94760" y="2907792"/>
            <a:ext cx="10607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9D8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authenticated signed Result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992624" y="1828800"/>
            <a:ext cx="3017520" cy="2788920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1975104"/>
            <a:ext cx="438912" cy="246888"/>
          </a:xfrm>
          <a:prstGeom prst="rect">
            <a:avLst/>
          </a:prstGeom>
          <a:solidFill>
            <a:srgbClr val="0F4DAA"/>
          </a:solidFill>
          <a:ln w="8890">
            <a:solidFill>
              <a:srgbClr val="0F4D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38928" y="20345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5138928" y="23225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 / KMS checks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138928" y="2697480"/>
            <a:ext cx="2724912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 authenticity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time and policy version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E/K binding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proof of possession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one-time atomic state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8028432" y="2542032"/>
            <a:ext cx="1161288" cy="-201168"/>
          </a:xfrm>
          <a:prstGeom prst="line">
            <a:avLst/>
          </a:prstGeom>
          <a:noFill/>
          <a:ln w="27940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28432" y="3429000"/>
            <a:ext cx="1161288" cy="-155448"/>
          </a:xfrm>
          <a:prstGeom prst="line">
            <a:avLst/>
          </a:prstGeom>
          <a:noFill/>
          <a:ln w="27940">
            <a:solidFill>
              <a:srgbClr val="B4231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53728" y="1965960"/>
            <a:ext cx="1920240" cy="694944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2148840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ALLOW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9418320" y="2487168"/>
            <a:ext cx="15910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8F5E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policy decision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253728" y="2926080"/>
            <a:ext cx="1920240" cy="694944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3108960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 KEY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9418320" y="3447288"/>
            <a:ext cx="1591056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FFE1D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deny · replay · expiry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253728" y="4005072"/>
            <a:ext cx="1920240" cy="73152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00032" y="4197096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/ K endpoint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9363456" y="4443984"/>
            <a:ext cx="17007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5" dirty="0">
                <a:solidFill>
                  <a:srgbClr val="A4E9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attester receives secret only after ALLOW</a:t>
            </a:r>
            <a:endParaRPr lang="en-US" sz="695" dirty="0"/>
          </a:p>
        </p:txBody>
      </p:sp>
      <p:sp>
        <p:nvSpPr>
          <p:cNvPr id="28" name="Shape 26"/>
          <p:cNvSpPr/>
          <p:nvPr/>
        </p:nvSpPr>
        <p:spPr>
          <a:xfrm>
            <a:off x="8028432" y="4242816"/>
            <a:ext cx="1207008" cy="0"/>
          </a:xfrm>
          <a:prstGeom prst="line">
            <a:avLst/>
          </a:prstGeom>
          <a:noFill/>
          <a:ln w="18415">
            <a:solidFill>
              <a:srgbClr val="15803D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028432" y="3986784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5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PoP challenge / response</a:t>
            </a:r>
            <a:endParaRPr lang="en-US" sz="695" dirty="0"/>
          </a:p>
        </p:txBody>
      </p:sp>
      <p:sp>
        <p:nvSpPr>
          <p:cNvPr id="30" name="Shape 28"/>
          <p:cNvSpPr/>
          <p:nvPr/>
        </p:nvSpPr>
        <p:spPr>
          <a:xfrm>
            <a:off x="8028432" y="4590288"/>
            <a:ext cx="1207008" cy="0"/>
          </a:xfrm>
          <a:prstGeom prst="line">
            <a:avLst/>
          </a:prstGeom>
          <a:noFill/>
          <a:ln w="18415">
            <a:solidFill>
              <a:srgbClr val="15803D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891272" y="43708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5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E-018 secret on same approved K</a:t>
            </a:r>
            <a:endParaRPr lang="en-US" sz="665" dirty="0"/>
          </a:p>
        </p:txBody>
      </p:sp>
      <p:sp>
        <p:nvSpPr>
          <p:cNvPr id="32" name="Shape 30"/>
          <p:cNvSpPr/>
          <p:nvPr/>
        </p:nvSpPr>
        <p:spPr>
          <a:xfrm>
            <a:off x="658368" y="5285232"/>
            <a:ext cx="10515600" cy="530352"/>
          </a:xfrm>
          <a:prstGeom prst="rect">
            <a:avLst/>
          </a:prstGeom>
          <a:solidFill>
            <a:srgbClr val="0B3140"/>
          </a:solidFill>
          <a:ln w="8890">
            <a:solidFill>
              <a:srgbClr val="0B31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47725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4E9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Boundary B-006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59152" y="5458968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Result verification cannot substitute for Result-use policy, state consumption, or secret delivery.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2442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 · E-015/E-018 · B-006. Verifier/RP distinction.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Deployment obligations은 valid Quote가 자동으로 제공하지 않는다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보안·운영 요구는 Result-use path에 명시적으로 설계하고 검증해야 한다.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85216" y="1600200"/>
            <a:ext cx="3310128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46504"/>
            <a:ext cx="438912" cy="2468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059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31520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Freshness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/ Operations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nonce, expiry, stale collateral 판단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310128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746504"/>
            <a:ext cx="438912" cy="246888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8059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462272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binding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462272" y="246888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 + Verifier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7C3AE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subject · audience · request ownership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046720" y="1600200"/>
            <a:ext cx="3310128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1746504"/>
            <a:ext cx="438912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3024" y="18059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193024" y="20939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Public-key binding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193024" y="2468880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+ RP/KMS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K와 Evidence/Result의 일치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585216" y="3630168"/>
            <a:ext cx="3310128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776472"/>
            <a:ext cx="438912" cy="246888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83590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731520" y="4123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Proof of possession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31520" y="4498848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 + TD endpoint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75CD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K를 실제로 제어하는 endpoint 확인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4315968" y="3630168"/>
            <a:ext cx="3310128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3776472"/>
            <a:ext cx="438912" cy="246888"/>
          </a:xfrm>
          <a:prstGeom prst="rect">
            <a:avLst/>
          </a:prstGeom>
          <a:solidFill>
            <a:srgbClr val="0E7490"/>
          </a:solidFill>
          <a:ln w="889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383590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4462272" y="4123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Authenticated Result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62272" y="4498848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Verifier → RP/KMS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verdict가 policy owner까지 변조 없이 도달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8046720" y="3630168"/>
            <a:ext cx="3310128" cy="1508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93024" y="3776472"/>
            <a:ext cx="438912" cy="24688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3835908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8193024" y="4123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One-time state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193024" y="4498848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RP/KMS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release decision·state consumption·secret delivery의 atomic terminal transition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585216" y="5669280"/>
            <a:ext cx="11018520" cy="384048"/>
          </a:xfrm>
          <a:prstGeom prst="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797296"/>
            <a:ext cx="10515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5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Failure policy must explicitly cover: deny · replay · expiry · invalid collateral · failed PoP → NO KEY.</a:t>
            </a:r>
            <a:endParaRPr lang="en-US" sz="965" dirty="0"/>
          </a:p>
        </p:txBody>
      </p:sp>
      <p:sp>
        <p:nvSpPr>
          <p:cNvPr id="37" name="Shape 35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Point five-boundary inventory and C-004/C-007 proof limits.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Attestation result의 proof boundary를 명확히 읽는다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선택한 attestation trust model과 appraisal policy 아래에서 Quote와 Result는 유용한 Evidence를 제공하지만 workload의 모든 property를 자동 증명하지 않는다.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5257800" cy="4480560"/>
          </a:xfrm>
          <a:prstGeom prst="rect">
            <a:avLst/>
          </a:prstGeom>
          <a:solidFill>
            <a:srgbClr val="EAF7EF"/>
          </a:solidFill>
          <a:ln w="8890">
            <a:solidFill>
              <a:srgbClr val="EA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92224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경로가 하는 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32688" y="2395728"/>
            <a:ext cx="292608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45516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389888" y="2468880"/>
            <a:ext cx="4069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reported TD state를 appraisal policy로 평가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932688" y="3063240"/>
            <a:ext cx="292608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12267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389888" y="3136392"/>
            <a:ext cx="4069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배포가 request / audience / public-key binding을 명시적으로 설계·검증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32688" y="3730752"/>
            <a:ext cx="292608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79018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1389888" y="3803904"/>
            <a:ext cx="4069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signed Result를 distinct policy owner에게 전달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32688" y="4398264"/>
            <a:ext cx="292608" cy="246888"/>
          </a:xfrm>
          <a:prstGeom prst="rect">
            <a:avLst/>
          </a:prstGeom>
          <a:solidFill>
            <a:srgbClr val="15803D"/>
          </a:solidFill>
          <a:ln w="889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45770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1389888" y="4471416"/>
            <a:ext cx="4069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secret release를 explicit allow / no-key branch로 분리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91072" y="1508760"/>
            <a:ext cx="5257800" cy="4480560"/>
          </a:xfrm>
          <a:prstGeom prst="rect">
            <a:avLst/>
          </a:prstGeom>
          <a:solidFill>
            <a:srgbClr val="FFF0EF"/>
          </a:solidFill>
          <a:ln w="8890">
            <a:solidFill>
              <a:srgbClr val="FFF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92224"/>
            <a:ext cx="4526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231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경로만으로는 하지 않는 일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01968" y="2395728"/>
            <a:ext cx="292608" cy="24688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455164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×</a:t>
            </a:r>
            <a:endParaRPr lang="en-US" sz="760" dirty="0"/>
          </a:p>
        </p:txBody>
      </p:sp>
      <p:sp>
        <p:nvSpPr>
          <p:cNvPr id="23" name="Text 21"/>
          <p:cNvSpPr/>
          <p:nvPr/>
        </p:nvSpPr>
        <p:spPr>
          <a:xfrm>
            <a:off x="7059168" y="2468880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code correctness / vulnerability absence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601968" y="3063240"/>
            <a:ext cx="292608" cy="24688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3122676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×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7059168" y="3136392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TD 내부 container·process의 automatic identity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6601968" y="3730752"/>
            <a:ext cx="292608" cy="24688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790188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×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7059168" y="3803904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attestation 이후 future-safe behavior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601968" y="4398264"/>
            <a:ext cx="292608" cy="24688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45770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×</a:t>
            </a:r>
            <a:endParaRPr lang="en-US" sz="760" dirty="0"/>
          </a:p>
        </p:txBody>
      </p:sp>
      <p:sp>
        <p:nvSpPr>
          <p:cNvPr id="32" name="Text 30"/>
          <p:cNvSpPr/>
          <p:nvPr/>
        </p:nvSpPr>
        <p:spPr>
          <a:xfrm>
            <a:off x="7059168" y="4471416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availability 및 side-channel·I/O·physical·supply-chain risk 제거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22960" y="6181344"/>
            <a:ext cx="10607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설계 판단: workload identity와 runtime behavior에는 별도 Evidence / control을 추가한다.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C-007 and does_not_prove[0..3].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Intel-rats는 learning lens이고, production baseline은 아니다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도메인 mental model과 design-review 질문에는 사용하되, implementation/security approval/runtime enforcement 근거로 단독 사용하지 않는다.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337560" cy="3063240"/>
          </a:xfrm>
          <a:prstGeom prst="rect">
            <a:avLst/>
          </a:prstGeom>
          <a:solidFill>
            <a:srgbClr val="12334A"/>
          </a:solidFill>
          <a:ln w="8890">
            <a:solidFill>
              <a:srgbClr val="12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75104"/>
            <a:ext cx="438912" cy="246888"/>
          </a:xfrm>
          <a:prstGeom prst="rect">
            <a:avLst/>
          </a:prstGeom>
          <a:solidFill>
            <a:srgbClr val="1F5975"/>
          </a:solidFill>
          <a:ln w="8890">
            <a:solidFill>
              <a:srgbClr val="1F59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345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USE</a:t>
            </a:r>
            <a:endParaRPr lang="en-US" sz="760" dirty="0"/>
          </a:p>
        </p:txBody>
      </p:sp>
      <p:sp>
        <p:nvSpPr>
          <p:cNvPr id="8" name="Text 6"/>
          <p:cNvSpPr/>
          <p:nvPr/>
        </p:nvSpPr>
        <p:spPr>
          <a:xfrm>
            <a:off x="786384" y="232257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Teach &amp; review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2697480"/>
            <a:ext cx="304495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remote-attestation decision system을 설명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trust role separation을 검토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request / result / policy binding 질문 생성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425696" y="1828800"/>
            <a:ext cx="3337560" cy="3063240"/>
          </a:xfrm>
          <a:prstGeom prst="rect">
            <a:avLst/>
          </a:prstGeom>
          <a:solidFill>
            <a:srgbClr val="3B1C27"/>
          </a:solidFill>
          <a:ln w="8890">
            <a:solidFill>
              <a:srgbClr val="3B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75104"/>
            <a:ext cx="438912" cy="246888"/>
          </a:xfrm>
          <a:prstGeom prst="rect">
            <a:avLst/>
          </a:prstGeom>
          <a:solidFill>
            <a:srgbClr val="B42318"/>
          </a:solidFill>
          <a:ln w="889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0345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DON’T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4572000" y="232257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 not treat as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0" y="2697480"/>
            <a:ext cx="304495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deployable Quote-verification implementation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security-approval baseline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runtime-enforcement proof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211312" y="1828800"/>
            <a:ext cx="3337560" cy="3063240"/>
          </a:xfrm>
          <a:prstGeom prst="rect">
            <a:avLst/>
          </a:prstGeom>
          <a:solidFill>
            <a:srgbClr val="175CD3"/>
          </a:solidFill>
          <a:ln w="8890">
            <a:solidFill>
              <a:srgbClr val="175C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57616" y="1975104"/>
            <a:ext cx="438912" cy="246888"/>
          </a:xfrm>
          <a:prstGeom prst="rect">
            <a:avLst/>
          </a:prstGeom>
          <a:solidFill>
            <a:srgbClr val="0F4DAA"/>
          </a:solidFill>
          <a:ln w="8890">
            <a:solidFill>
              <a:srgbClr val="0F4D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2034540"/>
            <a:ext cx="4389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ASK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8357616" y="232257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Design review questions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57616" y="2697480"/>
            <a:ext cx="304495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Evidence를 평가하는가?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누가 release policy를 소유하는가?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binding/failure state가 explicit한가?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10908792" cy="530352"/>
          </a:xfrm>
          <a:prstGeom prst="rect">
            <a:avLst/>
          </a:prstGeom>
          <a:solidFill>
            <a:srgbClr val="0B3140"/>
          </a:solidFill>
          <a:ln w="8890">
            <a:solidFill>
              <a:srgbClr val="0B31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541264"/>
            <a:ext cx="10287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A4E9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Executive action: policy ownership, collateral operations, key binding, replay/expiry handling을 release 전에 책임자로 확정한다.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2442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Point use decision. Domain first; project assessment remains supporting.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9DB3C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b="1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Appendix · Claim · model · source ledger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74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material claim과 model element는 coverage map의 exact slide/object locator로 추적된다. 이 appendix는 Slide 10의 action 결론 뒤에 둔다.</a:t>
            </a:r>
            <a:endParaRPr lang="en-US" sz="1310" dirty="0"/>
          </a:p>
        </p:txBody>
      </p:sp>
      <p:sp>
        <p:nvSpPr>
          <p:cNvPr id="4" name="Text 2"/>
          <p:cNvSpPr/>
          <p:nvPr/>
        </p:nvSpPr>
        <p:spPr>
          <a:xfrm>
            <a:off x="11201400" y="3840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749808" cy="502920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00784"/>
            <a:ext cx="6035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Claim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1627632" y="1508760"/>
            <a:ext cx="4709160" cy="502920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0784" y="1700784"/>
            <a:ext cx="45628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Material meaning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6547104" y="1508760"/>
            <a:ext cx="2267712" cy="502920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0256" y="1700784"/>
            <a:ext cx="2121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source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9162288" y="1508760"/>
            <a:ext cx="2212848" cy="502920"/>
          </a:xfrm>
          <a:prstGeom prst="rect">
            <a:avLst/>
          </a:prstGeom>
          <a:solidFill>
            <a:srgbClr val="102A43"/>
          </a:solidFill>
          <a:ln w="889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1700784"/>
            <a:ext cx="20665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Structural location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58368" y="2011680"/>
            <a:ext cx="749808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22951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C-001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1627632" y="2011680"/>
            <a:ext cx="470916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28216" y="2295144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appraisal + separate release policy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547104" y="2011680"/>
            <a:ext cx="2267712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7688" y="229514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S-002, S-003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9162288" y="2011680"/>
            <a:ext cx="2212848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62872" y="22951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Slides 1, 3, 7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58368" y="2843784"/>
            <a:ext cx="749808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1272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C-004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1627632" y="2843784"/>
            <a:ext cx="4709160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28216" y="3127248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Quote/collateral appraisal → signed Result → policy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547104" y="2843784"/>
            <a:ext cx="2267712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47688" y="3127248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S-002, S-003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162288" y="2843784"/>
            <a:ext cx="2212848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3127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Slides 5, 7, 8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658368" y="3675888"/>
            <a:ext cx="749808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3959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C-005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1627632" y="3675888"/>
            <a:ext cx="470916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28216" y="3959352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PCS authority ≠ PCCS cache/transport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547104" y="3675888"/>
            <a:ext cx="2267712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395935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S-003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9162288" y="3675888"/>
            <a:ext cx="2212848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62872" y="3959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Slides 2, 6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658368" y="4507992"/>
            <a:ext cx="749808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47914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E749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C-007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1627632" y="4507992"/>
            <a:ext cx="4709160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28216" y="4791456"/>
            <a:ext cx="4507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Quote/Result proof limit and extra controls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547104" y="4507992"/>
            <a:ext cx="2267712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7688" y="4791456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S-002, S-003</a:t>
            </a:r>
            <a:endParaRPr lang="en-US" sz="860" dirty="0"/>
          </a:p>
        </p:txBody>
      </p:sp>
      <p:sp>
        <p:nvSpPr>
          <p:cNvPr id="43" name="Shape 41"/>
          <p:cNvSpPr/>
          <p:nvPr/>
        </p:nvSpPr>
        <p:spPr>
          <a:xfrm>
            <a:off x="9162288" y="4507992"/>
            <a:ext cx="2212848" cy="822960"/>
          </a:xfrm>
          <a:prstGeom prst="rect">
            <a:avLst/>
          </a:prstGeom>
          <a:solidFill>
            <a:srgbClr val="EEF3F8"/>
          </a:solidFill>
          <a:ln w="8890">
            <a:solidFill>
              <a:srgbClr val="EEF3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62872" y="4791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020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Slides 4, 8, 9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658368" y="5394960"/>
            <a:ext cx="11064240" cy="512064"/>
          </a:xfrm>
          <a:prstGeom prst="rect">
            <a:avLst/>
          </a:prstGeom>
          <a:solidFill>
            <a:srgbClr val="FFF8E5"/>
          </a:solidFill>
          <a:ln w="8890">
            <a:solidFill>
              <a:srgbClr val="FFF8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1248" y="5577840"/>
            <a:ext cx="10698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8A56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Quick model locator · E-013: Slide 05 / st-e-013 · E-015: Slide 07 / st-e-015 · E-018: Slide 07 / TD endpoint · B-004: Slide 04 · B-006: Slide 07 · N-005/N-006: Slide 05.</a:t>
            </a:r>
            <a:endParaRPr lang="en-US" sz="770" dirty="0"/>
          </a:p>
        </p:txBody>
      </p:sp>
      <p:sp>
        <p:nvSpPr>
          <p:cNvPr id="47" name="Text 45"/>
          <p:cNvSpPr/>
          <p:nvPr/>
        </p:nvSpPr>
        <p:spPr>
          <a:xfrm>
            <a:off x="868680" y="6099048"/>
            <a:ext cx="10607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5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Canonical locators: S-002 RFC 9334 §§2–4 · S-003 Intel DCAP QuoteGeneration / QuoteVerification / collateral workflow.</a:t>
            </a:r>
            <a:endParaRPr lang="en-US" sz="775" dirty="0"/>
          </a:p>
        </p:txBody>
      </p:sp>
      <p:sp>
        <p:nvSpPr>
          <p:cNvPr id="48" name="Shape 46"/>
          <p:cNvSpPr/>
          <p:nvPr/>
        </p:nvSpPr>
        <p:spPr>
          <a:xfrm>
            <a:off x="502920" y="6382512"/>
            <a:ext cx="11183112" cy="0"/>
          </a:xfrm>
          <a:prstGeom prst="line">
            <a:avLst/>
          </a:prstGeom>
          <a:noFill/>
          <a:ln w="5715">
            <a:solidFill>
              <a:srgbClr val="D3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492240"/>
            <a:ext cx="7909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Coverage map is the authoritative object-level trace; this slide is the reader-facing ledger.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8138160" y="6492240"/>
            <a:ext cx="3520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0" dirty="0">
                <a:solidFill>
                  <a:srgbClr val="45627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S-002 RFC 9334 · S-003 Intel DCAP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Bitboom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 TDX 원격 증명 — 구조적 full deck</dc:title>
  <dc:subject>Complete Point projection with coverage trace</dc:subject>
  <dc:creator>Bitboom</dc:creator>
  <cp:lastModifiedBy>Bitboom</cp:lastModifiedBy>
  <cp:revision>1</cp:revision>
  <dcterms:created xsi:type="dcterms:W3CDTF">2026-07-18T05:09:14Z</dcterms:created>
  <dcterms:modified xsi:type="dcterms:W3CDTF">2026-07-18T05:09:14Z</dcterms:modified>
</cp:coreProperties>
</file>