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유효한 Quote는 비밀 공개 권한이 아니다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321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B8CF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TDQE가 서명한 Evidence를 Verifier가 평가하고, RP/KMS가 별도 공개 정책으로 마지막 행동을 결정한다.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CF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508760"/>
            <a:ext cx="2834640" cy="2514600"/>
          </a:xfrm>
          <a:prstGeom prst="roundRect">
            <a:avLst/>
          </a:prstGeom>
          <a:solidFill>
            <a:srgbClr val="12334A"/>
          </a:solidFill>
          <a:ln w="8890">
            <a:solidFill>
              <a:srgbClr val="123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73352"/>
            <a:ext cx="1152144" cy="256032"/>
          </a:xfrm>
          <a:prstGeom prst="roundRect">
            <a:avLst/>
          </a:prstGeom>
          <a:solidFill>
            <a:srgbClr val="0B7890"/>
          </a:solidFill>
          <a:ln w="8890">
            <a:solidFill>
              <a:srgbClr val="0B78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4193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 · TD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749808" y="2084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TD는 Evidence를 준비한다</a:t>
            </a:r>
            <a:endParaRPr lang="en-US" sz="1530" dirty="0"/>
          </a:p>
        </p:txBody>
      </p:sp>
      <p:sp>
        <p:nvSpPr>
          <p:cNvPr id="9" name="Text 7"/>
          <p:cNvSpPr/>
          <p:nvPr/>
        </p:nvSpPr>
        <p:spPr>
          <a:xfrm>
            <a:off x="749808" y="2478024"/>
            <a:ext cx="24688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TD는 임시 키와 요청 문맥의 D를 TDREPORT에 넣는다. QGS daemon은 운반하고 TDQE가 TD Quote를 생성·서명한다.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4681728" y="1508760"/>
            <a:ext cx="2834640" cy="2514600"/>
          </a:xfrm>
          <a:prstGeom prst="roundRect">
            <a:avLst/>
          </a:prstGeom>
          <a:solidFill>
            <a:srgbClr val="1C64D1"/>
          </a:solidFill>
          <a:ln w="8890">
            <a:solidFill>
              <a:srgbClr val="1C64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673352"/>
            <a:ext cx="1152144" cy="256032"/>
          </a:xfrm>
          <a:prstGeom prst="roundRect">
            <a:avLst/>
          </a:prstGeom>
          <a:solidFill>
            <a:srgbClr val="1650A8"/>
          </a:solidFill>
          <a:ln w="8890">
            <a:solidFill>
              <a:srgbClr val="1650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74193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 · RP/KMS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864608" y="2084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RP/KMS는 전달하고 결정한다</a:t>
            </a:r>
            <a:endParaRPr lang="en-US" sz="1530" dirty="0"/>
          </a:p>
        </p:txBody>
      </p:sp>
      <p:sp>
        <p:nvSpPr>
          <p:cNvPr id="14" name="Text 12"/>
          <p:cNvSpPr/>
          <p:nvPr/>
        </p:nvSpPr>
        <p:spPr>
          <a:xfrm>
            <a:off x="4864608" y="2478024"/>
            <a:ext cx="24688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TD가 돌려준 Quote·key bytes·request를 Verifier에 보낸다. signed Result를 확인해도 아직 비밀을 바로 보내지 않는다.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8796528" y="1508760"/>
            <a:ext cx="2834640" cy="2514600"/>
          </a:xfrm>
          <a:prstGeom prst="roundRect">
            <a:avLst/>
          </a:prstGeom>
          <a:solidFill>
            <a:srgbClr val="0B7890"/>
          </a:solidFill>
          <a:ln w="8890">
            <a:solidFill>
              <a:srgbClr val="0B78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1673352"/>
            <a:ext cx="1152144" cy="256032"/>
          </a:xfrm>
          <a:prstGeom prst="roundRect">
            <a:avLst/>
          </a:prstGeom>
          <a:solidFill>
            <a:srgbClr val="086377"/>
          </a:solidFill>
          <a:ln w="8890">
            <a:solidFill>
              <a:srgbClr val="086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1741932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 · Verifier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8979408" y="2084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Verifier는 평가해 Result를 서명한다</a:t>
            </a:r>
            <a:endParaRPr lang="en-US" sz="1530" dirty="0"/>
          </a:p>
        </p:txBody>
      </p:sp>
      <p:sp>
        <p:nvSpPr>
          <p:cNvPr id="19" name="Text 17"/>
          <p:cNvSpPr/>
          <p:nvPr/>
        </p:nvSpPr>
        <p:spPr>
          <a:xfrm>
            <a:off x="8979408" y="2478024"/>
            <a:ext cx="24688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Verifier는 Quote·collateral·K/D/E·보관 문맥을 평가하고 signed Result를 RP/KMS에 돌려준다.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3429000" y="2788920"/>
            <a:ext cx="1216152" cy="0"/>
          </a:xfrm>
          <a:prstGeom prst="line">
            <a:avLst/>
          </a:prstGeom>
          <a:noFill/>
          <a:ln w="30480">
            <a:solidFill>
              <a:srgbClr val="98DDEA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218688" y="249631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B8F0F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Quote + key bytes + request</a:t>
            </a:r>
            <a:endParaRPr lang="en-US" sz="890" dirty="0"/>
          </a:p>
        </p:txBody>
      </p:sp>
      <p:sp>
        <p:nvSpPr>
          <p:cNvPr id="22" name="Shape 20"/>
          <p:cNvSpPr/>
          <p:nvPr/>
        </p:nvSpPr>
        <p:spPr>
          <a:xfrm>
            <a:off x="7543800" y="2788920"/>
            <a:ext cx="1216152" cy="0"/>
          </a:xfrm>
          <a:prstGeom prst="line">
            <a:avLst/>
          </a:prstGeom>
          <a:noFill/>
          <a:ln w="30480">
            <a:solidFill>
              <a:srgbClr val="9CC9FF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525512" y="2496312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C5E1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Evidence + K/D/E</a:t>
            </a:r>
            <a:endParaRPr lang="en-US" sz="890" dirty="0"/>
          </a:p>
        </p:txBody>
      </p:sp>
      <p:sp>
        <p:nvSpPr>
          <p:cNvPr id="24" name="Shape 22"/>
          <p:cNvSpPr/>
          <p:nvPr/>
        </p:nvSpPr>
        <p:spPr>
          <a:xfrm>
            <a:off x="8759952" y="4224528"/>
            <a:ext cx="-1216152" cy="0"/>
          </a:xfrm>
          <a:prstGeom prst="line">
            <a:avLst/>
          </a:prstGeom>
          <a:noFill/>
          <a:ln w="27940">
            <a:solidFill>
              <a:srgbClr val="B8F0F5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589520" y="3968496"/>
            <a:ext cx="11704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B8F0F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Verifier-signed Result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658368" y="4709160"/>
            <a:ext cx="10835640" cy="566928"/>
          </a:xfrm>
          <a:prstGeom prst="roundRect">
            <a:avLst/>
          </a:prstGeom>
          <a:solidFill>
            <a:srgbClr val="103247"/>
          </a:solidFill>
          <a:ln w="8890">
            <a:solidFill>
              <a:srgbClr val="1032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4873752"/>
            <a:ext cx="822960" cy="256032"/>
          </a:xfrm>
          <a:prstGeom prst="roundRect">
            <a:avLst/>
          </a:prstGeom>
          <a:solidFill>
            <a:srgbClr val="14804A"/>
          </a:solidFill>
          <a:ln w="8890">
            <a:solidFill>
              <a:srgbClr val="1480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94233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읽는 문장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1828800" y="4873752"/>
            <a:ext cx="9482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Verifier가 Evidence를 평가해도 secret을 공개하지는 않는다. RP/KMS가 Result·시간·E/K·키 소유 증명을 다시 확인한 allow path에서만 같은 승인 키 channel로 secret을 전달한다.</a:t>
            </a:r>
            <a:endParaRPr lang="en-US" sz="1330" dirty="0"/>
          </a:p>
        </p:txBody>
      </p:sp>
      <p:sp>
        <p:nvSpPr>
          <p:cNvPr id="30" name="Shape 28"/>
          <p:cNvSpPr/>
          <p:nvPr/>
        </p:nvSpPr>
        <p:spPr>
          <a:xfrm>
            <a:off x="658368" y="5486400"/>
            <a:ext cx="5166360" cy="493776"/>
          </a:xfrm>
          <a:prstGeom prst="roundRect">
            <a:avLst/>
          </a:prstGeom>
          <a:solidFill>
            <a:srgbClr val="14384D"/>
          </a:solidFill>
          <a:ln w="8890">
            <a:solidFill>
              <a:srgbClr val="1438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650992"/>
            <a:ext cx="4754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D9F0F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증명: reported TD state와 bound request/key를 policy로 평가할 수 있다.</a:t>
            </a:r>
            <a:endParaRPr lang="en-US" sz="1010" dirty="0"/>
          </a:p>
        </p:txBody>
      </p:sp>
      <p:sp>
        <p:nvSpPr>
          <p:cNvPr id="32" name="Shape 30"/>
          <p:cNvSpPr/>
          <p:nvPr/>
        </p:nvSpPr>
        <p:spPr>
          <a:xfrm>
            <a:off x="6144768" y="5486400"/>
            <a:ext cx="5349240" cy="493776"/>
          </a:xfrm>
          <a:prstGeom prst="roundRect">
            <a:avLst/>
          </a:prstGeom>
          <a:solidFill>
            <a:srgbClr val="47222D"/>
          </a:solidFill>
          <a:ln w="8890">
            <a:solidFill>
              <a:srgbClr val="4722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5650992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FFE4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비증명: code correctness · container identity · future safety · availability.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502920" y="6345936"/>
            <a:ext cx="11183112" cy="0"/>
          </a:xfrm>
          <a:prstGeom prst="line">
            <a:avLst/>
          </a:prstGeom>
          <a:noFill/>
          <a:ln w="6350">
            <a:solidFill>
              <a:srgbClr val="3351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47395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8CF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C-001 · C-004 · C-007 · E-012/E-013/E-015/E-018 · B-004/B-006 · 〔S-002,S-003〕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7543800" y="647395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B8CF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 markers: 〔S-…〕 · Appendix 16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비밀 공개는 여섯 단계가 모두 닫힐 때만 일어난다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3210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처음 읽을 때는 K·D·E와 키 소유 증명(PoP)의 뜻을 먼저 잡고, request binding부터 same-key release까지 순서대로 읽는다.</a:t>
            </a:r>
            <a:endParaRPr lang="en-US" sz="1430" dirty="0"/>
          </a:p>
        </p:txBody>
      </p:sp>
      <p:sp>
        <p:nvSpPr>
          <p:cNvPr id="4" name="Text 2"/>
          <p:cNvSpPr/>
          <p:nvPr/>
        </p:nvSpPr>
        <p:spPr>
          <a:xfrm>
            <a:off x="11155680" y="3840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2670048" cy="594360"/>
          </a:xfrm>
          <a:prstGeom prst="roundRect">
            <a:avLst/>
          </a:prstGeom>
          <a:solidFill>
            <a:srgbClr val="E8F5FA"/>
          </a:solidFill>
          <a:ln w="8890">
            <a:solidFill>
              <a:srgbClr val="E8F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49961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78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97280" y="1499616"/>
            <a:ext cx="1901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승인할 공개키의 digest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3410712" y="1298448"/>
            <a:ext cx="2670048" cy="594360"/>
          </a:xfrm>
          <a:prstGeom prst="roundRect">
            <a:avLst/>
          </a:prstGeom>
          <a:solidFill>
            <a:srgbClr val="E8F5FA"/>
          </a:solidFill>
          <a:ln w="8890">
            <a:solidFill>
              <a:srgbClr val="E8F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7016" y="149961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78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05072" y="1499616"/>
            <a:ext cx="1901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요청 문맥과 K를 묶은 digest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318504" y="1298448"/>
            <a:ext cx="2670048" cy="594360"/>
          </a:xfrm>
          <a:prstGeom prst="roundRect">
            <a:avLst/>
          </a:prstGeom>
          <a:solidFill>
            <a:srgbClr val="E8F5FA"/>
          </a:solidFill>
          <a:ln w="8890">
            <a:solidFill>
              <a:srgbClr val="E8F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49961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78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12864" y="1499616"/>
            <a:ext cx="1901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정확한 Quote 원문의 digest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9226296" y="1298448"/>
            <a:ext cx="2670048" cy="594360"/>
          </a:xfrm>
          <a:prstGeom prst="roundRect">
            <a:avLst/>
          </a:prstGeom>
          <a:solidFill>
            <a:srgbClr val="F3EEFF"/>
          </a:solidFill>
          <a:ln w="8890">
            <a:solidFill>
              <a:srgbClr val="F3E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72600" y="149961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7044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820656" y="1499616"/>
            <a:ext cx="1901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 소유 증명(Proof of Possession)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384048" y="2212848"/>
            <a:ext cx="1755648" cy="251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377440"/>
            <a:ext cx="1152144" cy="256032"/>
          </a:xfrm>
          <a:prstGeom prst="roundRect">
            <a:avLst/>
          </a:prstGeom>
          <a:solidFill>
            <a:srgbClr val="1C64D1"/>
          </a:solidFill>
          <a:ln w="8890">
            <a:solidFill>
              <a:srgbClr val="1C64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446020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566928" y="278892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요청 결합</a:t>
            </a:r>
            <a:endParaRPr lang="en-US" sz="1530" dirty="0"/>
          </a:p>
        </p:txBody>
      </p:sp>
      <p:sp>
        <p:nvSpPr>
          <p:cNvPr id="21" name="Text 19"/>
          <p:cNvSpPr/>
          <p:nvPr/>
        </p:nvSpPr>
        <p:spPr>
          <a:xfrm>
            <a:off x="566928" y="3182112"/>
            <a:ext cx="138988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RP/KMS 요청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 nonce 보관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2167128" y="3337560"/>
            <a:ext cx="137160" cy="0"/>
          </a:xfrm>
          <a:prstGeom prst="line">
            <a:avLst/>
          </a:prstGeom>
          <a:noFill/>
          <a:ln w="19050">
            <a:solidFill>
              <a:srgbClr val="1C64D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340864" y="2212848"/>
            <a:ext cx="1755648" cy="251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05456" y="2377440"/>
            <a:ext cx="1152144" cy="256032"/>
          </a:xfrm>
          <a:prstGeom prst="roundRect">
            <a:avLst/>
          </a:prstGeom>
          <a:solidFill>
            <a:srgbClr val="7044C8"/>
          </a:solidFill>
          <a:ln w="8890">
            <a:solidFill>
              <a:srgbClr val="7044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05456" y="2446020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2523744" y="278892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D·TDREPORT</a:t>
            </a:r>
            <a:endParaRPr lang="en-US" sz="1530" dirty="0"/>
          </a:p>
        </p:txBody>
      </p:sp>
      <p:sp>
        <p:nvSpPr>
          <p:cNvPr id="27" name="Text 25"/>
          <p:cNvSpPr/>
          <p:nvPr/>
        </p:nvSpPr>
        <p:spPr>
          <a:xfrm>
            <a:off x="2523744" y="3182112"/>
            <a:ext cx="138988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TD가 D를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REPORTDATA에 묶음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4123944" y="3337560"/>
            <a:ext cx="137160" cy="0"/>
          </a:xfrm>
          <a:prstGeom prst="line">
            <a:avLst/>
          </a:prstGeom>
          <a:noFill/>
          <a:ln w="19050">
            <a:solidFill>
              <a:srgbClr val="7044C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297680" y="2212848"/>
            <a:ext cx="1755648" cy="251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62272" y="2377440"/>
            <a:ext cx="1152144" cy="256032"/>
          </a:xfrm>
          <a:prstGeom prst="roundRect">
            <a:avLst/>
          </a:prstGeom>
          <a:solidFill>
            <a:srgbClr val="0B7890"/>
          </a:solidFill>
          <a:ln w="8890">
            <a:solidFill>
              <a:srgbClr val="0B78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62272" y="2446020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480560" y="278892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TDQE Quote</a:t>
            </a:r>
            <a:endParaRPr lang="en-US" sz="1530" dirty="0"/>
          </a:p>
        </p:txBody>
      </p:sp>
      <p:sp>
        <p:nvSpPr>
          <p:cNvPr id="33" name="Text 31"/>
          <p:cNvSpPr/>
          <p:nvPr/>
        </p:nvSpPr>
        <p:spPr>
          <a:xfrm>
            <a:off x="4480560" y="3182112"/>
            <a:ext cx="138988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QGS transport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TDQE가 서명</a:t>
            </a:r>
            <a:endParaRPr lang="en-US" sz="1230" dirty="0"/>
          </a:p>
        </p:txBody>
      </p:sp>
      <p:sp>
        <p:nvSpPr>
          <p:cNvPr id="34" name="Shape 32"/>
          <p:cNvSpPr/>
          <p:nvPr/>
        </p:nvSpPr>
        <p:spPr>
          <a:xfrm>
            <a:off x="6080760" y="3337560"/>
            <a:ext cx="137160" cy="0"/>
          </a:xfrm>
          <a:prstGeom prst="line">
            <a:avLst/>
          </a:prstGeom>
          <a:noFill/>
          <a:ln w="19050">
            <a:solidFill>
              <a:srgbClr val="0B7890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254496" y="2212848"/>
            <a:ext cx="1755648" cy="251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19088" y="2377440"/>
            <a:ext cx="1152144" cy="256032"/>
          </a:xfrm>
          <a:prstGeom prst="roundRect">
            <a:avLst/>
          </a:prstGeom>
          <a:solidFill>
            <a:srgbClr val="9A6500"/>
          </a:solidFill>
          <a:ln w="8890">
            <a:solidFill>
              <a:srgbClr val="9A65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9088" y="2446020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6437376" y="278892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K/D/E 평가</a:t>
            </a:r>
            <a:endParaRPr lang="en-US" sz="1530" dirty="0"/>
          </a:p>
        </p:txBody>
      </p:sp>
      <p:sp>
        <p:nvSpPr>
          <p:cNvPr id="39" name="Text 37"/>
          <p:cNvSpPr/>
          <p:nvPr/>
        </p:nvSpPr>
        <p:spPr>
          <a:xfrm>
            <a:off x="6437376" y="3182112"/>
            <a:ext cx="138988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RP/KMS→Verifier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Evidence appraisal</a:t>
            </a:r>
            <a:endParaRPr lang="en-US" sz="1230" dirty="0"/>
          </a:p>
        </p:txBody>
      </p:sp>
      <p:sp>
        <p:nvSpPr>
          <p:cNvPr id="40" name="Shape 38"/>
          <p:cNvSpPr/>
          <p:nvPr/>
        </p:nvSpPr>
        <p:spPr>
          <a:xfrm>
            <a:off x="8037576" y="3337560"/>
            <a:ext cx="137160" cy="0"/>
          </a:xfrm>
          <a:prstGeom prst="line">
            <a:avLst/>
          </a:prstGeom>
          <a:noFill/>
          <a:ln w="19050">
            <a:solidFill>
              <a:srgbClr val="9A6500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211312" y="2212848"/>
            <a:ext cx="1755648" cy="251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75904" y="2377440"/>
            <a:ext cx="1152144" cy="256032"/>
          </a:xfrm>
          <a:prstGeom prst="roundRect">
            <a:avLst/>
          </a:prstGeom>
          <a:solidFill>
            <a:srgbClr val="7044C8"/>
          </a:solidFill>
          <a:ln w="8890">
            <a:solidFill>
              <a:srgbClr val="7044C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75904" y="2446020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8394192" y="278892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signed Result</a:t>
            </a:r>
            <a:endParaRPr lang="en-US" sz="1530" dirty="0"/>
          </a:p>
        </p:txBody>
      </p:sp>
      <p:sp>
        <p:nvSpPr>
          <p:cNvPr id="45" name="Text 43"/>
          <p:cNvSpPr/>
          <p:nvPr/>
        </p:nvSpPr>
        <p:spPr>
          <a:xfrm>
            <a:off x="8394192" y="3182112"/>
            <a:ext cx="138988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verdict·E·K를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Verifier가 서명</a:t>
            </a:r>
            <a:endParaRPr lang="en-US" sz="1230" dirty="0"/>
          </a:p>
        </p:txBody>
      </p:sp>
      <p:sp>
        <p:nvSpPr>
          <p:cNvPr id="46" name="Shape 44"/>
          <p:cNvSpPr/>
          <p:nvPr/>
        </p:nvSpPr>
        <p:spPr>
          <a:xfrm>
            <a:off x="9994392" y="3337560"/>
            <a:ext cx="137160" cy="0"/>
          </a:xfrm>
          <a:prstGeom prst="line">
            <a:avLst/>
          </a:prstGeom>
          <a:noFill/>
          <a:ln w="19050">
            <a:solidFill>
              <a:srgbClr val="7044C8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168128" y="2212848"/>
            <a:ext cx="1755648" cy="251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332720" y="2377440"/>
            <a:ext cx="1152144" cy="256032"/>
          </a:xfrm>
          <a:prstGeom prst="roundRect">
            <a:avLst/>
          </a:prstGeom>
          <a:solidFill>
            <a:srgbClr val="14804A"/>
          </a:solidFill>
          <a:ln w="8890">
            <a:solidFill>
              <a:srgbClr val="1480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332720" y="2446020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10351008" y="278892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PoP → 공개</a:t>
            </a:r>
            <a:endParaRPr lang="en-US" sz="1530" dirty="0"/>
          </a:p>
        </p:txBody>
      </p:sp>
      <p:sp>
        <p:nvSpPr>
          <p:cNvPr id="51" name="Text 49"/>
          <p:cNvSpPr/>
          <p:nvPr/>
        </p:nvSpPr>
        <p:spPr>
          <a:xfrm>
            <a:off x="10351008" y="3182112"/>
            <a:ext cx="138988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 소유 증명 뒤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4273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same-K secret</a:t>
            </a:r>
            <a:endParaRPr lang="en-US" sz="1230" dirty="0"/>
          </a:p>
        </p:txBody>
      </p:sp>
      <p:sp>
        <p:nvSpPr>
          <p:cNvPr id="52" name="Shape 50"/>
          <p:cNvSpPr/>
          <p:nvPr/>
        </p:nvSpPr>
        <p:spPr>
          <a:xfrm>
            <a:off x="658368" y="5010912"/>
            <a:ext cx="10835640" cy="438912"/>
          </a:xfrm>
          <a:prstGeom prst="roundRect">
            <a:avLst/>
          </a:prstGeom>
          <a:solidFill>
            <a:srgbClr val="EAF7EF"/>
          </a:solidFill>
          <a:ln w="8890">
            <a:solidFill>
              <a:srgbClr val="EAF7E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2960" y="5175504"/>
            <a:ext cx="822960" cy="256032"/>
          </a:xfrm>
          <a:prstGeom prst="roundRect">
            <a:avLst/>
          </a:prstGeom>
          <a:solidFill>
            <a:srgbClr val="14804A"/>
          </a:solidFill>
          <a:ln w="8890">
            <a:solidFill>
              <a:srgbClr val="1480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" y="524408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공개 branch</a:t>
            </a:r>
            <a:endParaRPr lang="en-US" sz="820" dirty="0"/>
          </a:p>
        </p:txBody>
      </p:sp>
      <p:sp>
        <p:nvSpPr>
          <p:cNvPr id="55" name="Text 53"/>
          <p:cNvSpPr/>
          <p:nvPr/>
        </p:nvSpPr>
        <p:spPr>
          <a:xfrm>
            <a:off x="1828800" y="5175504"/>
            <a:ext cx="9482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14804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allow + Result/time/E/K + PoP + unused→release_committed 성공 → same approved-K channel → secret</a:t>
            </a:r>
            <a:endParaRPr lang="en-US" sz="1330" dirty="0"/>
          </a:p>
        </p:txBody>
      </p:sp>
      <p:sp>
        <p:nvSpPr>
          <p:cNvPr id="56" name="Shape 54"/>
          <p:cNvSpPr/>
          <p:nvPr/>
        </p:nvSpPr>
        <p:spPr>
          <a:xfrm>
            <a:off x="658368" y="5532120"/>
            <a:ext cx="10835640" cy="438912"/>
          </a:xfrm>
          <a:prstGeom prst="roundRect">
            <a:avLst/>
          </a:prstGeom>
          <a:solidFill>
            <a:srgbClr val="FFF0EF"/>
          </a:solidFill>
          <a:ln w="8890">
            <a:solidFill>
              <a:srgbClr val="FFF0E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2960" y="5696712"/>
            <a:ext cx="822960" cy="256032"/>
          </a:xfrm>
          <a:prstGeom prst="roundRect">
            <a:avLst/>
          </a:prstGeom>
          <a:solidFill>
            <a:srgbClr val="B42318"/>
          </a:solidFill>
          <a:ln w="8890">
            <a:solidFill>
              <a:srgbClr val="B4231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2960" y="576529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 KEY branch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1828800" y="5696712"/>
            <a:ext cx="9482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B4231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deny · expiry · replay · invalid Result/collateral · failed PoP · terminal error → NO KEY. 재시도는 기존 record를 닫고 새 nonce로 시작한다.</a:t>
            </a:r>
            <a:endParaRPr lang="en-US" sz="1330" dirty="0"/>
          </a:p>
        </p:txBody>
      </p:sp>
      <p:sp>
        <p:nvSpPr>
          <p:cNvPr id="60" name="Shape 58"/>
          <p:cNvSpPr/>
          <p:nvPr/>
        </p:nvSpPr>
        <p:spPr>
          <a:xfrm>
            <a:off x="502920" y="6345936"/>
            <a:ext cx="11183112" cy="0"/>
          </a:xfrm>
          <a:prstGeom prst="line">
            <a:avLst/>
          </a:prstGeom>
          <a:noFill/>
          <a:ln w="6350">
            <a:solidFill>
              <a:srgbClr val="C9D6E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6473952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C-003/C-004/C-006 · E-003–E-018 · K/D/E/PoP local onboarding · 〔S-002,S-003〕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7543800" y="647395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26B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 markers: 〔S-…〕 · Appendix 16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Bitboom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 TDX 원격 증명 — Point prose summary</dc:title>
  <dc:subject>Two-slide Point-first explanation</dc:subject>
  <dc:creator>Bitboom</dc:creator>
  <cp:lastModifiedBy>Bitboom</cp:lastModifiedBy>
  <cp:revision>1</cp:revision>
  <dcterms:created xsi:type="dcterms:W3CDTF">2026-07-18T10:04:18Z</dcterms:created>
  <dcterms:modified xsi:type="dcterms:W3CDTF">2026-07-18T10:04:18Z</dcterms:modified>
</cp:coreProperties>
</file>